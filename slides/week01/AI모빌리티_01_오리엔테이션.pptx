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모빌리티에서 다룬 ML·DL 기초를 스마트 교통물류의 예측·시뮬레이션 문제와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1~2주 데이터·환경 → 3~5주 ML → 6~7주 DL → 8주 휴강 → 9주 중간고사·팀 편성 → 10주 PyTorch → 11~12주 Transformer → 13~14주 ETA 프로젝트 → 15주 발표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권 모두 주교재. 다음 주부터 『핸즈온 머신러닝 3판』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기말고사 대신 팀 프로젝트 발표·보고서로 평가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과제는 해당 내용을 다루는 이론이 끝난 뒤에 배포한다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패키지 버전보다 import 성공 여부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AI 모빌리티 · 가천대학교 스마트시티학과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오리엔테이션 · AI 모빌리티 개관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이 과목이 다루는 것, 배우는 순서, 평가 방식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교수 ·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1일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Week 01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3683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교과목 개요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수업 내용  ·  1.2 이 과목의 세 단계  ·  1.3 교통 &amp; 모빌리티 트랙에서의 위치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AI 모빌리티 적용 분야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주요 예측 문제  ·  2.2 수업 적용 주제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15주 로드맵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15주 전체 구성  ·  3.2 ML 파트 (3~5주)  ·  3.3 DL 파트 (6~7·10주)  ·  3.4 Transformer·ETA 파트  ·  3.5 교재 — 두 권 필수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평가와 운영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평가 비중  ·  4.2 중간고사와 팀 프로젝트  ·  4.3 실습 과제 3회  ·  4.4 과제 작성 원칙  ·  4.5 출결·휴강·연락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실습 환경과 다음 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분석 도구  ·  5.2 AI 코딩 도구  ·  5.3 환경 점검 미리보기  ·  5.4 이번 주 할 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교과목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수업 내용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이 과목의 세 단계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1.3  </a:t>
            </a:r>
            <a:r>
              <a:t>교통 &amp; 모빌리티 트랙에서의 위치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수업 내용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교과목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이 과목의 세 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교과목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3~5주: scikit-learn으로 기계학습 모델 사용</a:t>
            </a:r>
          </a:p>
          <a:p>
            <a:pPr lvl="1"/>
            <a:r>
              <a:t>『핸즈온 머신러닝 3판』 Ch1·2·3(발췌)·4·6·7</a:t>
            </a:r>
          </a:p>
          <a:p>
            <a:pPr/>
            <a:r>
              <a:t>6~12주: 신경망 기초, PyTorch, Attention·Transformer</a:t>
            </a:r>
          </a:p>
          <a:p>
            <a:pPr lvl="1"/>
            <a:r>
              <a:t>『밑바닥부터 시작하는 딥러닝 1』 Ch2~6 + 강의노트</a:t>
            </a:r>
          </a:p>
          <a:p>
            <a:pPr/>
            <a:r>
              <a:t>13~14주: 서울시 BIS 기반 노선별 버스 ETA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1.3 교통 &amp; 모빌리티 트랙에서의 위치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교과목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2학년: ML·DL 기초와 교통 응용</a:t>
            </a:r>
          </a:p>
          <a:p>
            <a:pPr/>
            <a:r>
              <a:t>3학년: 알고리즘과 시뮬레이션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모빌리티 트랙 과목의 역할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과목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성격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마무리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AI 모빌리티 · 2학년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ML·DL 기초와 교통 응용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팀 프로젝트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스마트 교통물류 · 3학년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알고리즘·시뮬레이션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개인 프로젝트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AI 모빌리티 적용 분야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주요 예측 문제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수업 적용 주제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주요 예측 문제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AI 모빌리티 적용 분야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표 2. 모빌리티 데이터와 예측 문제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5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606698"/>
                <a:gridCol w="3606698"/>
                <a:gridCol w="3606699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데이터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예측 문제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활용 예시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버스 운행 이력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도착시간·구간 통행시간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BIS·도착정보 안내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대중교통 이용 이력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시간대·지역별 수요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배차계획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링크 속도·GPS 궤적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통행시간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경로 안내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공유모빌리티 이용 이력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대여·반납 수요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차량 재배치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수업 적용 주제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AI 모빌리티 적용 분야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서울시 BIS 데이터 &amp; 스마트카드 데이터</a:t>
            </a:r>
          </a:p>
          <a:p>
            <a:pPr/>
            <a:r>
              <a:t>선정된 버스 노선별 모델 학습</a:t>
            </a:r>
          </a:p>
          <a:p>
            <a:pPr/>
            <a:r>
              <a:t>정형 특성과 최근 구간 통행시간 시퀀스 활용</a:t>
            </a:r>
          </a:p>
          <a:p>
            <a:pPr/>
            <a:r>
              <a:t>XGBoost·MLP·Transformer 비교</a:t>
            </a:r>
          </a:p>
          <a:p>
            <a:pPr/>
            <a:r>
              <a:t>날짜 기준 검증과 구간별 오차 분석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15주 로드맵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15주 전체 구성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ML 파트 (3~5주)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DL 파트 (6~7·10주)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3.4  </a:t>
            </a:r>
            <a:r>
              <a:t>Transformer·ETA 파트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3.5  </a:t>
            </a:r>
            <a:r>
              <a:t>교재 — 두 권 필수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15주 전체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15주 로드맵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그림 1. 15주 구성 — ML → DL → Transformer → ETA 프로젝트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  <p:pic>
        <p:nvPicPr>
          <p:cNvPr id="26" name="Picture 25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820095" cy="41994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ML 파트 (3~5주)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15주 로드맵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Ch1·2·3(발췌)·4·6·7</a:t>
            </a:r>
          </a:p>
          <a:p>
            <a:pPr/>
            <a:r>
              <a:t>Ch2: End-to-End 프로젝트 흐름</a:t>
            </a:r>
          </a:p>
          <a:p>
            <a:pPr/>
            <a:r>
              <a:t>4주차: 경사하강법·비용함수·규제</a:t>
            </a:r>
          </a:p>
          <a:p>
            <a:pPr/>
            <a:r>
              <a:t>5주차: Random Forest·XGBoost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DL 파트 (6~7·10주)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15주 로드맵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numpy 기반 신경망 구현</a:t>
            </a:r>
          </a:p>
          <a:p>
            <a:pPr lvl="1"/>
            <a:r>
              <a:t>순전파(6주) → 손실함수·경사법(7주) → 오차역전파(7주)</a:t>
            </a:r>
          </a:p>
          <a:p>
            <a:pPr/>
            <a:r>
              <a:t>계산 그래프를 이용한 역전파</a:t>
            </a:r>
          </a:p>
          <a:p>
            <a:pPr/>
            <a:r>
              <a:t>10주차 PyTorch·MLP·옵티마이저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3.4 Transformer·ETA 파트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15주 로드맵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11주차: 시계열 입력과 Self-Attention</a:t>
            </a:r>
          </a:p>
          <a:p>
            <a:pPr/>
            <a:r>
              <a:t>12주차: Transformer Encoder 기반 회귀</a:t>
            </a:r>
          </a:p>
          <a:p>
            <a:pPr/>
            <a:r>
              <a:t>13주차: 노선별 BIS 데이터와 ETA 모델</a:t>
            </a:r>
          </a:p>
          <a:p>
            <a:pPr/>
            <a:r>
              <a:t>14주차: 모델 비교와 오차 분석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3.5 교재 — 두 권 필수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15주 로드맵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『핸즈온 머신러닝 3판』 — ML · 3~5주</a:t>
            </a:r>
          </a:p>
          <a:p>
            <a:pPr/>
            <a:r>
              <a:t>『밑바닥부터 시작하는 딥러닝 1』 — DL · 6~7·10주</a:t>
            </a:r>
          </a:p>
          <a:p>
            <a:pPr/>
            <a:r>
              <a:t>Attention·Transformer — 강의노트</a:t>
            </a:r>
          </a:p>
          <a:p>
            <a:pPr/>
            <a:r>
              <a:t>실습 코드: GitHub 공개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평가와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평가 비중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중간고사와 팀 프로젝트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4.3  </a:t>
            </a:r>
            <a:r>
              <a:t>실습 과제 3회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4.4  </a:t>
            </a:r>
            <a:r>
              <a:t>과제 작성 원칙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4.5  </a:t>
            </a:r>
            <a:r>
              <a:t>출결·휴강·연락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평가 비중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평가와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표 3. 평가 항목과 비중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5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606698"/>
                <a:gridCol w="3606698"/>
                <a:gridCol w="3606699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비중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비고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중간고사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30%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10-27 시행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팀 프로젝트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35%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발표 25 · 보고서 10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실습 과제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25%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HW1~HW3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출석·참여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10%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학칙 적용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중간고사와 팀 프로젝트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평가와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중간고사(9주차)</a:t>
            </a:r>
          </a:p>
          <a:p>
            <a:pPr lvl="1"/>
            <a:r>
              <a:t>개념 단답: closed-book</a:t>
            </a:r>
          </a:p>
          <a:p>
            <a:pPr lvl="1"/>
            <a:r>
              <a:t>코드 해석·수정: open-book</a:t>
            </a:r>
          </a:p>
          <a:p>
            <a:pPr/>
            <a:r>
              <a:t>팀 프로젝트: 8개 팀, 팀당 4~5인</a:t>
            </a:r>
          </a:p>
          <a:p>
            <a:pPr lvl="1"/>
            <a:r>
              <a:t>서울시 BIS 기반 노선별 버스 ETA</a:t>
            </a:r>
          </a:p>
          <a:p>
            <a:pPr/>
            <a:r>
              <a:t>대상: 최대 4개 노선, 노선당 2개 팀</a:t>
            </a:r>
          </a:p>
          <a:p>
            <a:pPr/>
            <a:r>
              <a:t>최종 발표: 15주차(12-08), 팀당 발표 8분·질의응답 4분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4.3 실습 과제 3회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평가와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제출: repository의 assignments 폴더 안내</a:t>
            </a:r>
          </a:p>
          <a:p>
            <a:pPr/>
            <a:r>
              <a:t>지각 제출: 하루당 10% 감점</a:t>
            </a:r>
          </a:p>
          <a:p>
            <a:pPr/>
            <a:r>
              <a:t>2~4주차는 과제 없음 — 이론과 실습에 집중</a:t>
            </a:r>
          </a:p>
          <a:p>
            <a:pPr/>
            <a:r>
              <a:t>HW2: 8주차 휴강 대체 과제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4. 과제 3회의 내용과 기한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과제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내용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배포 → 마감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HW1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제주 데이터 End-to-End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 → 7주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HW2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앙상블 비교 리포트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 → 11주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HW3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역전파·옵티마이저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11 → 13주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4.4 과제 작성 원칙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평가와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외부 자료와 코드의 출처 명시</a:t>
            </a:r>
          </a:p>
          <a:p>
            <a:pPr/>
            <a:r>
              <a:t>실행 가능한 분석 코드 제출</a:t>
            </a:r>
          </a:p>
          <a:p>
            <a:pPr/>
            <a:r>
              <a:t>AI 코딩 도구는 제한 없이 사용</a:t>
            </a:r>
          </a:p>
          <a:p>
            <a:pPr lvl="1"/>
            <a:r>
              <a:t>정확성의 책임은 제출한 학생에게</a:t>
            </a:r>
          </a:p>
          <a:p>
            <a:pPr/>
            <a:r>
              <a:t>제출물은 노트북 + 검토표 한 장</a:t>
            </a:r>
          </a:p>
          <a:p>
            <a:pPr lvl="1"/>
            <a:r>
              <a:t>결과의 주요 숫자를 옮겨 적고 기준선과 비교</a:t>
            </a:r>
          </a:p>
          <a:p>
            <a:pPr/>
            <a:r>
              <a:t>마감 다음 주 실습에서 전원 숫자를 익명 비교</a:t>
            </a:r>
          </a:p>
          <a:p>
            <a:pPr lvl="1"/>
            <a:r>
              <a:t>이상을 찾으면 한 주 안에 감점 없이 재제출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4.5 출결·휴강·연락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평가와 운영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8주차(10/20–21): 휴강, HW2 대체</a:t>
            </a:r>
          </a:p>
          <a:p>
            <a:pPr/>
            <a:r>
              <a:t>출결: 학칙 적용, 결석 초과 시 F</a:t>
            </a:r>
          </a:p>
          <a:p>
            <a:pPr/>
            <a:r>
              <a:t>강의 자료·과제: GitHub repository</a:t>
            </a:r>
          </a:p>
          <a:p>
            <a:pPr/>
            <a:r>
              <a:t>오피스 아워: 수 17:00–20:00</a:t>
            </a:r>
          </a:p>
          <a:p>
            <a:pPr/>
            <a:r>
              <a:t>연락: jihoyeo@gachon.ac.kr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실습 환경과 다음 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분석 도구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AI 코딩 도구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5.3  </a:t>
            </a:r>
            <a:r>
              <a:t>환경 점검 미리보기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5.4  </a:t>
            </a:r>
            <a:r>
              <a:t>이번 주 할 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분석 도구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실습 환경과 다음 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기본: Python·pandas·scikit-learn</a:t>
            </a:r>
          </a:p>
          <a:p>
            <a:pPr/>
            <a:r>
              <a:t>공간 데이터: GeoPandas</a:t>
            </a:r>
          </a:p>
          <a:p>
            <a:pPr/>
            <a:r>
              <a:t>신경망 구현: numpy</a:t>
            </a:r>
          </a:p>
          <a:p>
            <a:pPr/>
            <a:r>
              <a:t>10주차 이후: PyTorch</a:t>
            </a:r>
          </a:p>
          <a:p>
            <a:pPr/>
            <a:r>
              <a:t>설치가 어려운 경우: Google Colab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AI 코딩 도구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실습 환경과 다음 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기본 에디터: Google Antigravity</a:t>
            </a:r>
          </a:p>
          <a:p>
            <a:pPr lvl="1"/>
            <a:r>
              <a:t>VS Code 기반, 에이전트 내장, 무료 플랜</a:t>
            </a:r>
          </a:p>
          <a:p>
            <a:pPr/>
            <a:r>
              <a:t>코딩 에이전트: OpenAI Codex</a:t>
            </a:r>
          </a:p>
          <a:p>
            <a:pPr lvl="1"/>
            <a:r>
              <a:t>터미널·웹에서 사용, 2주차에 설치</a:t>
            </a:r>
          </a:p>
          <a:p>
            <a:pPr/>
            <a:r>
              <a:t>파이썬 문법은 따로 가르치지 않음</a:t>
            </a:r>
          </a:p>
          <a:p>
            <a:pPr lvl="1"/>
            <a:r>
              <a:t>필요한 시점에 도구로 해결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5.3 환경 점검 미리보기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실습 환경과 다음 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확인 항목: numpy·pandas·scikit-learn import</a:t>
            </a:r>
          </a:p>
          <a:p>
            <a:pPr/>
            <a:r>
              <a:t>로컬 환경이 어려운 경우 Google Colab 사용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b="1"/>
              <a:t>import</a:t>
            </a:r>
            <a:r>
              <a:t> numpy </a:t>
            </a:r>
            <a:r>
              <a:rPr b="1"/>
              <a:t>as</a:t>
            </a:r>
            <a:r>
              <a:t> np</a:t>
            </a:r>
          </a:p>
          <a:p>
            <a:r>
              <a:rPr b="1"/>
              <a:t>import</a:t>
            </a:r>
            <a:r>
              <a:t> pandas </a:t>
            </a:r>
            <a:r>
              <a:rPr b="1"/>
              <a:t>as</a:t>
            </a:r>
            <a:r>
              <a:t> pd</a:t>
            </a:r>
          </a:p>
          <a:p>
            <a:r>
              <a:rPr b="1"/>
              <a:t>import</a:t>
            </a:r>
            <a:r>
              <a:t> sklearn</a:t>
            </a:r>
          </a:p>
          <a:p/>
          <a:p>
            <a:r>
              <a:rPr b="1"/>
              <a:t>print</a:t>
            </a:r>
            <a:r>
              <a:t>(np.__version__)</a:t>
            </a:r>
          </a:p>
          <a:p>
            <a:r>
              <a:rPr b="1"/>
              <a:t>print</a:t>
            </a:r>
            <a:r>
              <a:t>(pd.__version__)</a:t>
            </a:r>
          </a:p>
          <a:p>
            <a:r>
              <a:rPr b="1"/>
              <a:t>print</a:t>
            </a:r>
            <a:r>
              <a:t>(sklearn.__version__)</a:t>
            </a:r>
          </a:p>
          <a:p/>
          <a:p>
            <a:r>
              <a:t>df = pd.DataFrame({</a:t>
            </a:r>
          </a:p>
          <a:p>
            <a:r>
              <a:t>    "mode": ["bus", "subway", "taxi"],</a:t>
            </a:r>
          </a:p>
          <a:p>
            <a:r>
              <a:t>    "trips": [420, 310, 88],</a:t>
            </a:r>
          </a:p>
          <a:p>
            <a:r>
              <a:t>})</a:t>
            </a:r>
          </a:p>
          <a:p>
            <a:r>
              <a:rPr b="1"/>
              <a:t>print</a:t>
            </a:r>
            <a:r>
              <a:t>(df["trips"].mean())  </a:t>
            </a:r>
            <a:r>
              <a:rPr>
                <a:solidFill>
                  <a:srgbClr val="5E5E5E"/>
                </a:solidFill>
              </a:rPr>
              <a:t># (결과) 272.67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5.4 이번 주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실습 환경과 다음 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주교재 두 권 준비</a:t>
            </a:r>
          </a:p>
          <a:p>
            <a:pPr/>
            <a:r>
              <a:t>수요일 실습: 12:00, AI공학관 210호</a:t>
            </a:r>
          </a:p>
          <a:p>
            <a:pPr lvl="1"/>
            <a:r>
              <a:t>Python 환경 점검</a:t>
            </a:r>
          </a:p>
          <a:p>
            <a:pPr/>
            <a:r>
              <a:t>다음 주: 머신러닝 개요 (핸즈온 Ch1)</a:t>
            </a:r>
          </a:p>
          <a:p>
            <a:pPr lvl="1"/>
            <a:r>
              <a:t>개발 환경·AI 코딩 도구 세팅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다음 주 — 머신러닝 개요와 개발 환경 세팅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오피스 아워 수 17:00–20:00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