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6"/>
    <p:sldId id="265" r:id="rId5"/>
    <p:sldId id="266" r:id="rId4"/>
    <p:sldId id="267" r:id="rId3"/>
    <p:sldId id="268" r:id="rId2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목차는 표입니다. 섹션 수가 바뀌면 행을 삽입/삭제하세요.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모델 사용 → 주요 연산 구현 → 교통 문제 적용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모빌리티에서 다룬 ML·DL 기초를 스마트 교통물류의 예측·시뮬레이션 문제와 연결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 학기 안에서 ML·DL 기초와 예측 문제에 집중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자율주행 전체 시스템 개발은 수업 범위에서 제외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12주차 수요 예측과 3학년 배차 최적화의 차이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환승 경로 추천에 앞서 필요한 각 구간의 소요시간 예측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각 응용 사례를 뒤의 주차별 계획과 연결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1~2주 데이터·환경 → 3~5주 ML → 6~7주 DL → 8주 휴강 → 9주 중간고사·팀 편성 → 10~11주 DL → 12~14주 응용 → 15주 발표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교재 예제를 따라간 뒤 과제에서는 교통 데이터에 적용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라이브러리 사용에 앞서 순전파와 역전파의 계산 과정 확인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정형 데이터에서 트리 기반 모델과 신경망의 성능 비교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권 모두 주교재. 다음 주부터 『핸즈온 머신러닝 3판』 사용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기말고사 대신 팀 프로젝트 발표·보고서로 평가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12~13주차 실습을 프로젝트 준비와 연결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HW2에서는 핸즈온 Ch2의 작업 흐름을 교통 데이터로 재현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생성형 AI 사용 여부보다 결과를 검증하고 설명하는 능력에 초점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수강 정정 기간: 9/1~9/7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수요일 실습 시간에 Python 환경 점검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패키지 버전보다 import 성공 여부 확인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다음 주 HW1(데이터 정제·시각화) 배포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지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400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과목 코드 · 과목명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965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N주차</a:t>
            </a:r>
            <a:endParaRPr lang="en-US" sz="1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8580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강의 제목</a:t>
            </a:r>
            <a:endParaRPr lang="en-US" sz="5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577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이름 · 소속</a:t>
            </a:r>
            <a:endParaRPr lang="en-US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685800" y="5897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날짜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섹션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Autofit/>
          </a:bodyPr>
          <a:lstStyle>
            <a:lvl1pPr algn="l" indent="0" marL="0">
              <a:buNone/>
              <a:def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35204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섹션 이름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949440" y="361188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1.1 하위 섹션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AI 모빌리티 · 2026 가을학기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AI 모빌리티 · 2026 가을학기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937760" y="1417320"/>
            <a:ext cx="6565392" cy="4160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937760" y="571500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AI 모빌리티 · 2026 가을학기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685800" y="1417320"/>
            <a:ext cx="10820095" cy="4297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85216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AI 모빌리티 · 2026 가을학기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tbl" hasCustomPrompt="1"/>
          </p:nvPr>
        </p:nvSpPr>
        <p:spPr>
          <a:xfrm>
            <a:off x="685800" y="1828800"/>
            <a:ext cx="10820095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AI 모빌리티 · 2026 가을학기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tbl" hasCustomPrompt="1"/>
          </p:nvPr>
        </p:nvSpPr>
        <p:spPr>
          <a:xfrm>
            <a:off x="4937760" y="1828800"/>
            <a:ext cx="6565392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AI 모빌리티 · 2026 가을학기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코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4663440"/>
          </a:xfrm>
          <a:prstGeom prst="roundRect">
            <a:avLst>
              <a:gd name="adj" fmla="val 3268"/>
            </a:avLst>
          </a:prstGeom>
          <a:solidFill>
            <a:srgbClr val="EFEFEF"/>
          </a:solidFill>
          <a:ln/>
        </p:spPr>
        <p:txBody>
          <a:bodyPr wrap="square" lIns="228600" tIns="384048" rIns="228600" bIns="137160" rtlCol="0" anchor="t">
            <a:noAutofit/>
          </a:bodyPr>
          <a:lstStyle>
            <a:lvl1pPr algn="l" marL="0" indent="0">
              <a:lnSpc>
                <a:spcPct val="100000"/>
              </a:lnSpc>
              <a:spcAft>
                <a:spcPts val="0"/>
              </a:spcAft>
              <a:buNone/>
              <a:defRPr sz="110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코드</a:t>
            </a:r>
            <a:endParaRPr lang="en-US" sz="1100" dirty="0"/>
          </a:p>
        </p:txBody>
      </p:sp>
      <p:sp>
        <p:nvSpPr>
          <p:cNvPr id="6" name="Text 0"/>
          <p:cNvSpPr/>
          <p:nvPr/>
        </p:nvSpPr>
        <p:spPr>
          <a:xfrm>
            <a:off x="5166360" y="1527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FAF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[ ]</a:t>
            </a:r>
            <a:endParaRPr lang="en-US" sz="900" dirty="0"/>
          </a:p>
        </p:txBody>
      </p:sp>
      <p:sp>
        <p:nvSpPr>
          <p:cNvPr id="7" name="Text 1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AI 모빌리티 · 2026 가을학기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마무리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1945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감사합니다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2461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5577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연락처</a:t>
            </a: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AI 모빌리티 · 가천대학교 스마트시티학과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1주차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오리엔테이션 · AI 모빌리티 개관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이 과목이 다루는 것, 배우는 순서, 평가 방식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여지호 교수 · 스마트시티학과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2026년 9월 1일 (화)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강의 목차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Week 01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3" cy="36830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914631"/>
                <a:gridCol w="2560969"/>
                <a:gridCol w="7344493"/>
              </a:tblGrid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01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교과목 개요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1.1 교과목 개요  ·  1.2 이 과목의 세 단계  ·  1.3 모빌리티 트랙에서의 위치  ·  1.4 다루지 않는 것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02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AI 모빌리티 개관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2.1 자율주행 — 인지·판단·제어  ·  2.2 수요응답형 교통(DRT)  ·  2.3 MaaS와 통합 모빌리티  ·  2.4 AI가 실제로 쓰이는 지점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03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15주 로드맵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3.1 15주 전체 구성  ·  3.2 ML 파트 (3~5주)  ·  3.3 DL 파트 (6~7·10~11주)  ·  3.4 응용 파트 (12~14주)  ·  3.5 교재 — 두 권 필수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04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평가와 운영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4.1 평가 비중  ·  4.2 중간고사와 팀 프로젝트  ·  4.3 실습 과제 4회  ·  4.4 생성형 AI 활용 정책  ·  4.5 출결·휴강·연락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05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실습 환경과 다음 주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5.1 실습 도구  ·  5.2 환경 점검 미리보기  ·  5.3 이번 주 할 일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교과목 개요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1.1  </a:t>
            </a:r>
            <a:r>
              <a:t>교과목 개요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1.2  </a:t>
            </a:r>
            <a:r>
              <a:t>이 과목의 세 단계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1.3  </a:t>
            </a:r>
            <a:r>
              <a:t>모빌리티 트랙에서의 위치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1.4  </a:t>
            </a:r>
            <a:r>
              <a:t>다루지 않는 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1.1 교과목 개요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교과목 개요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/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1.2 이 과목의 세 단계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교과목 개요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3~5주: scikit-learn으로 기계학습 모델 사용</a:t>
            </a:r>
          </a:p>
          <a:p>
            <a:pPr lvl="1"/>
            <a:r>
              <a:t>『핸즈온 머신러닝 3판』 Ch1·2·3(발췌)·4·6·7</a:t>
            </a:r>
          </a:p>
          <a:p>
            <a:pPr/>
            <a:r>
              <a:t>6~11주: numpy로 신경망의 주요 연산 구현</a:t>
            </a:r>
          </a:p>
          <a:p>
            <a:pPr lvl="1"/>
            <a:r>
              <a:t>『밑바닥부터 시작하는 딥러닝 1』 Ch2~8</a:t>
            </a:r>
          </a:p>
          <a:p>
            <a:pPr/>
            <a:r>
              <a:t>12~14주: 수요 예측·ETA·강화학습 적용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1.3 모빌리티 트랙에서의 위치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교과목 개요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2학년: ML·DL 기초와 교통 응용</a:t>
            </a:r>
          </a:p>
          <a:p>
            <a:pPr/>
            <a:r>
              <a:t>3학년: 알고리즘과 시뮬레이션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1. 모빌리티 트랙 과목의 역할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167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188464"/>
                <a:gridCol w="2188464"/>
                <a:gridCol w="2188464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과목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성격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마무리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AI 모빌리티 · 2학년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ML·DL 기초와 교통 응용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팀 프로젝트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스마트 교통물류 · 3학년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알고리즘·시뮬레이션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개인 프로젝트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1.4 다루지 않는 것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교과목 개요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최적화·라우팅·배차, 시뮬레이션 구축: 「스마트 교통물류」</a:t>
            </a:r>
          </a:p>
          <a:p>
            <a:pPr/>
            <a:r>
              <a:t>LLM·RAG·AI 에이전트: 별도 과목</a:t>
            </a:r>
          </a:p>
          <a:p>
            <a:pPr/>
            <a:r>
              <a:t>RNN·Transformer: ETA 사례에서 개념만 소개</a:t>
            </a:r>
          </a:p>
          <a:p>
            <a:pPr/>
            <a:r>
              <a:t>객체탐지: 실습 제외, CNN 원리까지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AI 모빌리티 개관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2.1  </a:t>
            </a:r>
            <a:r>
              <a:t>자율주행 — 인지·판단·제어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2.2  </a:t>
            </a:r>
            <a:r>
              <a:t>수요응답형 교통(DRT)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2.3  </a:t>
            </a:r>
            <a:r>
              <a:t>MaaS와 통합 모빌리티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2.4  </a:t>
            </a:r>
            <a:r>
              <a:t>AI가 실제로 쓰이는 지점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2.1 자율주행 — 인지·판단·제어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AI 모빌리티 개관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인지: 카메라·라이다 기반 차선·객체 인식</a:t>
            </a:r>
          </a:p>
          <a:p>
            <a:pPr/>
            <a:r>
              <a:t>판단: 주변 차량의 움직임 예측과 행동 선택</a:t>
            </a:r>
          </a:p>
          <a:p>
            <a:pPr/>
            <a:r>
              <a:t>제어: 조향·가감속 명령</a:t>
            </a:r>
          </a:p>
          <a:p>
            <a:pPr/>
            <a:r>
              <a:t>수업 범위: 11주차 CNN 원리와 구현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2.2 수요응답형 교통(DRT)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AI 모빌리티 개관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고정 노선 대신 호출 수요에 맞춘 차량 운행</a:t>
            </a:r>
          </a:p>
          <a:p>
            <a:pPr/>
            <a:r>
              <a:t>활용 지역: 농어촌·신도시 등 수요가 분산된 지역</a:t>
            </a:r>
          </a:p>
          <a:p>
            <a:pPr/>
            <a:r>
              <a:t>예측 문제: 언제, 어디에서 호출이 발생하는가</a:t>
            </a:r>
          </a:p>
          <a:p>
            <a:pPr/>
            <a:r>
              <a:t>운영 문제: 차량을 어디에 배치하는가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2.3 MaaS와 통합 모빌리티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AI 모빌리티 개관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여러 이동수단의 검색·예약·결제를 하나의 서비스로 통합</a:t>
            </a:r>
          </a:p>
          <a:p>
            <a:pPr lvl="1"/>
            <a:r>
              <a:t>대중교통 + 공유자전거 + 호출 서비스</a:t>
            </a:r>
          </a:p>
          <a:p>
            <a:pPr/>
            <a:r>
              <a:t>경로 추천에 필요한 구간별 소요시간</a:t>
            </a:r>
          </a:p>
          <a:p>
            <a:pPr/>
            <a:r>
              <a:t>13주차 주제: ETA 예측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2.4 AI가 실제로 쓰이는 지점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AI 모빌리티 개관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서비스별 예측·의사결정 문제</a:t>
            </a:r>
          </a:p>
          <a:p>
            <a:pPr/>
            <a:r>
              <a:t>관련 수업: 11~14주차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2. 모빌리티 서비스와 주차별 대응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94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188464"/>
                <a:gridCol w="2188464"/>
                <a:gridCol w="2188464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서비스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AI가 푸는 문제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이 과목의 주차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내비게이션·지도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도착시각 예측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13주 (ETA)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호출 앱·DRT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수요 예측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12주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신호제어·배차 운영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순차 의사결정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14주 (RL)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자율주행 인지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객체 인식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11주 (CNN)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15주 로드맵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3.1  </a:t>
            </a:r>
            <a:r>
              <a:t>15주 전체 구성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3.2  </a:t>
            </a:r>
            <a:r>
              <a:t>ML 파트 (3~5주)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3.3  </a:t>
            </a:r>
            <a:r>
              <a:t>DL 파트 (6~7·10~11주)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3.4  </a:t>
            </a:r>
            <a:r>
              <a:t>응용 파트 (12~14주)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3.5  </a:t>
            </a:r>
            <a:r>
              <a:t>교재 — 두 권 필수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3.1 15주 전체 구성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15주 로드맵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그림 1. 15주 구성 — ML → DL → 교통 응용 → 팀 프로젝트 발표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  <p:pic>
        <p:nvPicPr>
          <p:cNvPr id="26" name="Picture 25" descr="fig_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820095" cy="419947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3.2 ML 파트 (3~5주)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15주 로드맵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Ch1·2·3(발췌)·4·6·7</a:t>
            </a:r>
          </a:p>
          <a:p>
            <a:pPr/>
            <a:r>
              <a:t>Ch2: End-to-End 프로젝트 흐름</a:t>
            </a:r>
          </a:p>
          <a:p>
            <a:pPr/>
            <a:r>
              <a:t>4주차: 경사하강법·비용함수·규제</a:t>
            </a:r>
          </a:p>
          <a:p>
            <a:pPr/>
            <a:r>
              <a:t>5주차: Random Forest·XGBoost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3.3 DL 파트 (6~7·10~11주)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15주 로드맵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numpy 기반 신경망 구현</a:t>
            </a:r>
          </a:p>
          <a:p>
            <a:pPr lvl="1"/>
            <a:r>
              <a:t>순전파(6주) → 손실함수·경사법(7주) → 오차역전파(7주)</a:t>
            </a:r>
          </a:p>
          <a:p>
            <a:pPr/>
            <a:r>
              <a:t>계산 그래프를 이용한 역전파</a:t>
            </a:r>
          </a:p>
          <a:p>
            <a:pPr/>
            <a:r>
              <a:t>10주차 PyTorch, 11주차 CNN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3.4 응용 파트 (12~14주)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15주 로드맵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수요 예측(12주): 시계열 분할, 데이터 누수</a:t>
            </a:r>
          </a:p>
          <a:p>
            <a:pPr/>
            <a:r>
              <a:t>ETA(13주): 오차 분포와 비대칭 비용</a:t>
            </a:r>
          </a:p>
          <a:p>
            <a:pPr/>
            <a:r>
              <a:t>강화학습(14주): 신호제어·배차 사례</a:t>
            </a:r>
          </a:p>
          <a:p>
            <a:pPr lvl="1"/>
            <a:r>
              <a:t>강화학습이 필요한 문제와 예측으로 충분한 문제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3.5 교재 — 두 권 필수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15주 로드맵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『핸즈온 머신러닝 3판』 — ML · 3~5주</a:t>
            </a:r>
          </a:p>
          <a:p>
            <a:pPr/>
            <a:r>
              <a:t>『밑바닥부터 시작하는 딥러닝 1』 — DL · 6~11주</a:t>
            </a:r>
          </a:p>
          <a:p>
            <a:pPr/>
            <a:r>
              <a:t>실습 코드: GitHub 공개</a:t>
            </a:r>
          </a:p>
          <a:p>
            <a:pPr/>
            <a:r>
              <a:t>『밑바닥부터 시작하는 딥러닝 4』 — 구매 불필요, 14주차 강의노트 제공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평가와 운영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4.1  </a:t>
            </a:r>
            <a:r>
              <a:t>평가 비중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4.2  </a:t>
            </a:r>
            <a:r>
              <a:t>중간고사와 팀 프로젝트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4.3  </a:t>
            </a:r>
            <a:r>
              <a:t>실습 과제 4회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4.4  </a:t>
            </a:r>
            <a:r>
              <a:t>생성형 AI 활용 정책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4.5  </a:t>
            </a:r>
            <a:r>
              <a:t>출결·휴강·연락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4.1 평가 비중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평가와 운영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표 3. 평가 항목과 비중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5" cy="294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3606698"/>
                <a:gridCol w="3606698"/>
                <a:gridCol w="3606699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항목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비중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비고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중간고사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30%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10-27 시행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팀 프로젝트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35%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발표 25 · 보고서 10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실습 과제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25%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HW1~HW4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출석·참여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10%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학칙 적용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4.2 중간고사와 팀 프로젝트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평가와 운영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중간고사(9주차)</a:t>
            </a:r>
          </a:p>
          <a:p>
            <a:pPr lvl="1"/>
            <a:r>
              <a:t>개념 단답: closed-book</a:t>
            </a:r>
          </a:p>
          <a:p>
            <a:pPr lvl="1"/>
            <a:r>
              <a:t>코드 해석·수정: open-book, LLM 사용 가능</a:t>
            </a:r>
          </a:p>
          <a:p>
            <a:pPr/>
            <a:r>
              <a:t>팀 프로젝트: 3~4인, 9주차 주제 공지·팀 편성</a:t>
            </a:r>
          </a:p>
          <a:p>
            <a:pPr lvl="1"/>
            <a:r>
              <a:t>수요 예측 또는 ETA</a:t>
            </a:r>
          </a:p>
          <a:p>
            <a:pPr/>
            <a:r>
              <a:t>최종 발표: 15주차(12-08), 팀당 발표 10분·질의응답 5분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4.3 실습 과제 4회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평가와 운영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제출: repository의 `assignments/` 안내</a:t>
            </a:r>
          </a:p>
          <a:p>
            <a:pPr/>
            <a:r>
              <a:t>지각 제출: 하루당 10% 감점</a:t>
            </a:r>
          </a:p>
          <a:p>
            <a:pPr/>
            <a:r>
              <a:t>HW3: 8주차 휴강 대체 과제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4. 과제 4회의 내용과 기한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94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188464"/>
                <a:gridCol w="2188464"/>
                <a:gridCol w="2188464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과제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내용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배포 → 마감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HW1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데이터 정제·시각화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 → 4주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HW2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End-to-End 재현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 → 5주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HW3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앙상블 비교 리포트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8 → 10주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HW4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역전파·옵티마이저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10 → 12주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4.4 생성형 AI 활용 정책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평가와 운영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Claude·ChatGPT·Gemini 등 LLM 사용 가능</a:t>
            </a:r>
          </a:p>
          <a:p>
            <a:pPr/>
            <a:r>
              <a:t>평가 기준: 질문 구성, 결과 검증, 코드 설명</a:t>
            </a:r>
          </a:p>
          <a:p>
            <a:pPr/>
            <a:r>
              <a:t>과제에 사용 도구와 사용 범위 명시</a:t>
            </a:r>
          </a:p>
          <a:p>
            <a:pPr/>
            <a:r>
              <a:t>표절: 출처 없는 생성물, 설명하지 못하는 코드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4.5 출결·휴강·연락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평가와 운영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8주차(10/20–21): 휴강, HW3 대체</a:t>
            </a:r>
          </a:p>
          <a:p>
            <a:pPr/>
            <a:r>
              <a:t>출결: 학칙 적용, 결석 초과 시 F</a:t>
            </a:r>
          </a:p>
          <a:p>
            <a:pPr/>
            <a:r>
              <a:t>강의 자료·과제: GitHub repository</a:t>
            </a:r>
          </a:p>
          <a:p>
            <a:pPr/>
            <a:r>
              <a:t>오피스 아워: 수 17:00–20:00</a:t>
            </a:r>
          </a:p>
          <a:p>
            <a:pPr/>
            <a:r>
              <a:t>연락: jihoyeo@gachon.ac.kr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실습 환경과 다음 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5.1  </a:t>
            </a:r>
            <a:r>
              <a:t>실습 도구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5.2  </a:t>
            </a:r>
            <a:r>
              <a:t>환경 점검 미리보기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5.3  </a:t>
            </a:r>
            <a:r>
              <a:t>이번 주 할 일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5.1 실습 도구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실습 환경과 다음 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기본: Python·pandas·scikit-learn</a:t>
            </a:r>
          </a:p>
          <a:p>
            <a:pPr/>
            <a:r>
              <a:t>공간 데이터: GeoPandas</a:t>
            </a:r>
          </a:p>
          <a:p>
            <a:pPr/>
            <a:r>
              <a:t>신경망 구현: numpy</a:t>
            </a:r>
          </a:p>
          <a:p>
            <a:pPr/>
            <a:r>
              <a:t>10주차 이후: PyTorch</a:t>
            </a:r>
          </a:p>
          <a:p>
            <a:pPr/>
            <a:r>
              <a:t>설치가 어려운 경우: Google Colab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5.2 환경 점검 미리보기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실습 환경과 다음 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확인 항목: numpy·pandas·scikit-learn import</a:t>
            </a:r>
          </a:p>
          <a:p>
            <a:pPr/>
            <a:r>
              <a:t>로컬 환경이 어려운 경우 Google Colab 사용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rPr b="1"/>
              <a:t>import</a:t>
            </a:r>
            <a:r>
              <a:t> numpy </a:t>
            </a:r>
            <a:r>
              <a:rPr b="1"/>
              <a:t>as</a:t>
            </a:r>
            <a:r>
              <a:t> np</a:t>
            </a:r>
          </a:p>
          <a:p>
            <a:r>
              <a:rPr b="1"/>
              <a:t>import</a:t>
            </a:r>
            <a:r>
              <a:t> pandas </a:t>
            </a:r>
            <a:r>
              <a:rPr b="1"/>
              <a:t>as</a:t>
            </a:r>
            <a:r>
              <a:t> pd</a:t>
            </a:r>
          </a:p>
          <a:p>
            <a:r>
              <a:rPr b="1"/>
              <a:t>import</a:t>
            </a:r>
            <a:r>
              <a:t> sklearn</a:t>
            </a:r>
          </a:p>
          <a:p/>
          <a:p>
            <a:r>
              <a:rPr b="1"/>
              <a:t>print</a:t>
            </a:r>
            <a:r>
              <a:t>(np.__version__)</a:t>
            </a:r>
          </a:p>
          <a:p>
            <a:r>
              <a:rPr b="1"/>
              <a:t>print</a:t>
            </a:r>
            <a:r>
              <a:t>(pd.__version__)</a:t>
            </a:r>
          </a:p>
          <a:p>
            <a:r>
              <a:rPr b="1"/>
              <a:t>print</a:t>
            </a:r>
            <a:r>
              <a:t>(sklearn.__version__)</a:t>
            </a:r>
          </a:p>
          <a:p/>
          <a:p>
            <a:r>
              <a:t>df = pd.DataFrame({</a:t>
            </a:r>
          </a:p>
          <a:p>
            <a:r>
              <a:t>    "mode": ["bus", "subway", "taxi"],</a:t>
            </a:r>
          </a:p>
          <a:p>
            <a:r>
              <a:t>    "trips": [420, 310, 88],</a:t>
            </a:r>
          </a:p>
          <a:p>
            <a:r>
              <a:t>})</a:t>
            </a:r>
          </a:p>
          <a:p>
            <a:r>
              <a:rPr b="1"/>
              <a:t>print</a:t>
            </a:r>
            <a:r>
              <a:t>(df["trips"].mean())  </a:t>
            </a:r>
            <a:r>
              <a:rPr>
                <a:solidFill>
                  <a:srgbClr val="5E5E5E"/>
                </a:solidFill>
              </a:rPr>
              <a:t># (결과) 272.67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5.3 이번 주 할 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실습 환경과 다음 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주교재 두 권 준비</a:t>
            </a:r>
          </a:p>
          <a:p>
            <a:pPr lvl="1"/>
            <a:r>
              <a:t>밑바닥 Ch1(헬로 파이썬)은 2주차 자습 과제</a:t>
            </a:r>
          </a:p>
          <a:p>
            <a:pPr/>
            <a:r>
              <a:t>수요일 실습: 12:00, AI공학관 210호</a:t>
            </a:r>
          </a:p>
          <a:p>
            <a:pPr lvl="1"/>
            <a:r>
              <a:t>Python 환경 설정</a:t>
            </a:r>
          </a:p>
          <a:p>
            <a:pPr/>
            <a:r>
              <a:t>다음 주: 모빌리티 데이터의 이해</a:t>
            </a:r>
          </a:p>
          <a:p>
            <a:pPr lvl="1"/>
            <a:r>
              <a:t>GPS 궤적·교통카드·OD·링크 속도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감사합니다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다음 주 — 모빌리티 데이터의 이해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jihoyeo@gachon.ac.kr · 오피스 아워 수 17:00–20:00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2026-08-31T14:39:01Z</dcterms:created>
  <dcterms:modified xsi:type="dcterms:W3CDTF">2026-08-31T14:39:01Z</dcterms:modified>
</cp:coreProperties>
</file>