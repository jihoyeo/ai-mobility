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1.7 연습문제는 다루지 않는다. 수요일 실습은 개발 환경 세팅으로 따로 진행한다.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학생에게 버스 도착시간 예측을 T·E·P에 대입해 보게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루프를 판서로 나란히 그린다. 교재 그림 1-2와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1.3의 응용 사례는 교통 분야 예시로 바꿔 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트리 구조로 오해하기 쉬운 지점. 조합 가능한 좌표축이라고 못 박는다.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특성·예측 변수·속성은 같은 말. 로지스틱 '회귀'는 이름과 달리 분류기.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외부 메모리 학습은 이름과 달리 보통 오프라인 실행. 나쁜 데이터 주입 위험은 구두로.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OECD 삶의 만족도 예제. '모델'의 세 가지 의미(종류·구조·훈련 결과)는 시험 단골.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토론거리: 특정 도로에 몰린 관측치로 지역 전체를 설명할 수 있는가.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학생이 가장 오래 헷갈리는 지점. 다음 장에서 처방으로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파라미터와 하이퍼파라미터의 구분은 4주차 규제에서 수식으로 다시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일반화 오차는 외부 샘플 오차라고도 부른다.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검증 세트는 개발 세트라고도 부른다. 공짜 점심 없음 정리는 구두로만.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학기 내내 반복될 주제. 5주차 실습과 팀 프로젝트에서 데이터 누수로 다시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 세 가지를 다시 확인하고 마무리한다.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과제는 5주차에 배포한다. 2~4주차는 이론과 실습에 집중한다.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AI 모빌리티 · 가천대학교 스마트시티학과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2주차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머신러닝 개요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핸즈온 Ch1 — 시스템의 종류, 과대적합, 검증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교수 ·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9월 8일 (화)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Week 02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36830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머신러닝이란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오늘의 범위  ·  1.2 머신러닝의 정의  ·  1.3 규칙 기반의 한계  ·  1.4 머신러닝이 유리한 경우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머신러닝 시스템의 종류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세 개의 축  ·  2.2 훈련 지도 방식  ·  2.3 배치 학습과 온라인 학습  ·  2.4 사례 기반과 모델 기반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주요 도전 과제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나쁜 데이터의 네 가지  ·  3.2 과대적합과 과소적합  ·  3.3 규제와 하이퍼파라미터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테스트와 검증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일반화 성능의 측정  ·  4.2 검증 세트와 교차 검증  ·  4.3 데이터를 나누는 방식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정리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오늘의 요약  ·  5.2 이번 주 할 일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머신러닝이란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오늘의 범위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머신러닝의 정의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1.3  </a:t>
            </a:r>
            <a:r>
              <a:t>규칙 기반의 한계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1.4  </a:t>
            </a:r>
            <a:r>
              <a:t>머신러닝이 유리한 경우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오늘의 범위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머신러닝이란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핸즈온 머신러닝 3판 1장 전체</a:t>
            </a:r>
          </a:p>
          <a:p>
            <a:pPr/>
            <a:r>
              <a:t>코드보다 용어와 판단 기준이 중심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오늘 다루는 교재 절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교재 절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내용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1.1~1.3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정의, 사용 이유, 응용 사례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1.4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시스템의 종류 — 세 축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1.5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주요 도전 과제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1.6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테스트와 검증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머신러닝의 정의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머신러닝이란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데이터에서 학습하도록 컴퓨터를 프로그래밍하는 방법</a:t>
            </a:r>
          </a:p>
          <a:p>
            <a:pPr/>
            <a:r>
              <a:t>미첼(1997) — 경험 E로 작업 T의 성능 P가 향상되면 학습</a:t>
            </a:r>
          </a:p>
          <a:p>
            <a:pPr lvl="1"/>
            <a:r>
              <a:t>예: T 도착시간 예측, E 과거 운행 기록, P 평균 오차</a:t>
            </a:r>
          </a:p>
          <a:p>
            <a:pPr/>
            <a:r>
              <a:t>데이터 보유와 학습은 다름 — 기준은 성능 P의 향상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1.3 규칙 기반의 한계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머신러닝이란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규칙 기반: 사람이 조건을 나열 — 조건이 늘수록 유지보수 비용 증가</a:t>
            </a:r>
          </a:p>
          <a:p>
            <a:pPr lvl="1"/>
            <a:r>
              <a:t>시간대 평균 → 요일 추가 → 도로 등급 추가 → 강우 추가</a:t>
            </a:r>
          </a:p>
          <a:p>
            <a:pPr/>
            <a:r>
              <a:t>머신러닝: 패턴을 데이터에서 찾고 새 데이터에 적응</a:t>
            </a:r>
          </a:p>
          <a:p>
            <a:pPr/>
            <a:r>
              <a:t>규칙 작성 루프가 데이터·훈련·평가 루프로 대체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1.4 머신러닝이 유리한 경우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머신러닝이란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규칙이 길고 계속 늘어나는 문제</a:t>
            </a:r>
          </a:p>
          <a:p>
            <a:pPr/>
            <a:r>
              <a:t>규칙으로는 풀기 어려운 문제 — 음성 인식</a:t>
            </a:r>
          </a:p>
          <a:p>
            <a:pPr/>
            <a:r>
              <a:t>환경이 계속 변하는 문제 — 재훈련으로 적응</a:t>
            </a:r>
          </a:p>
          <a:p>
            <a:pPr/>
            <a:r>
              <a:t>대량 데이터에서 통찰을 얻는 문제 — 데이터 마이닝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머신러닝 시스템의 종류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세 개의 축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훈련 지도 방식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2.3  </a:t>
            </a:r>
            <a:r>
              <a:t>배치 학습과 온라인 학습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2.4  </a:t>
            </a:r>
            <a:r>
              <a:t>사례 기반과 모델 기반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세 개의 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머신러닝 시스템의 종류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훈련 지도 방식 — 레이블이 있는가</a:t>
            </a:r>
          </a:p>
          <a:p>
            <a:pPr/>
            <a:r>
              <a:t>학습 시점 — 한 번에 학습하는가, 점진적으로 하는가</a:t>
            </a:r>
          </a:p>
          <a:p>
            <a:pPr/>
            <a:r>
              <a:t>일반화 방식 — 사례를 비교하는가, 식으로 요약하는가</a:t>
            </a:r>
          </a:p>
          <a:p>
            <a:pPr/>
            <a:r>
              <a:t>세 축은 조합 — 하나를 골라도 나머지는 정해지지 않음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훈련 지도 방식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머신러닝 시스템의 종류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지도 학습: 정답 레이블이 있는 데이터로 학습</a:t>
            </a:r>
          </a:p>
          <a:p>
            <a:pPr lvl="1"/>
            <a:r>
              <a:t>분류(스팸 여부)와 회귀(속도·가격)</a:t>
            </a:r>
          </a:p>
          <a:p>
            <a:pPr/>
            <a:r>
              <a:t>비지도 학습: 레이블 없이 구조를 발견</a:t>
            </a:r>
          </a:p>
          <a:p>
            <a:pPr lvl="1"/>
            <a:r>
              <a:t>군집, 차원 축소, 이상치 탐지</a:t>
            </a:r>
          </a:p>
          <a:p>
            <a:pPr/>
            <a:r>
              <a:t>준지도: 일부만 레이블 / 자기 지도: 레이블을 스스로 생성</a:t>
            </a:r>
          </a:p>
          <a:p>
            <a:pPr/>
            <a:r>
              <a:t>강화 학습: 보상 신호로 정책 학습 — 알파고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2.3 배치 학습과 온라인 학습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머신러닝 시스템의 종류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배치 학습: 전체 데이터로 한 번에 훈련한 뒤 배포</a:t>
            </a:r>
          </a:p>
          <a:p>
            <a:pPr lvl="1"/>
            <a:r>
              <a:t>새 데이터가 쌓이면 처음부터 다시 훈련</a:t>
            </a:r>
          </a:p>
          <a:p>
            <a:pPr/>
            <a:r>
              <a:t>온라인 학습: 미니배치로 점진적 훈련</a:t>
            </a:r>
          </a:p>
          <a:p>
            <a:pPr lvl="1"/>
            <a:r>
              <a:t>학습률이 높으면 과거를 빨리 잊음</a:t>
            </a:r>
          </a:p>
          <a:p>
            <a:pPr/>
            <a:r>
              <a:t>모델 부패와 데이터 드리프트 — 성능은 시간이 지나며 떨어짐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2.4 사례 기반과 모델 기반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머신러닝 시스템의 종류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모델 기반: 경향을 식으로 요약한 뒤 예측</a:t>
            </a:r>
          </a:p>
          <a:p>
            <a:pPr/>
            <a:r>
              <a:t>사례 기반: 가까운 이웃과 비교해 예측</a:t>
            </a:r>
          </a:p>
          <a:p>
            <a:pPr/>
            <a:r>
              <a:t>사이킷런에서는 클래스 이름만 바꾸면 교체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rPr b="1"/>
              <a:t>import</a:t>
            </a:r>
            <a:r>
              <a:t> pandas </a:t>
            </a:r>
            <a:r>
              <a:rPr b="1"/>
              <a:t>as</a:t>
            </a:r>
            <a:r>
              <a:t> pd</a:t>
            </a:r>
          </a:p>
          <a:p>
            <a:r>
              <a:rPr b="1"/>
              <a:t>from</a:t>
            </a:r>
            <a:r>
              <a:t> sklearn.linear_model </a:t>
            </a:r>
            <a:r>
              <a:rPr b="1"/>
              <a:t>import</a:t>
            </a:r>
            <a:r>
              <a:t> LinearRegression</a:t>
            </a:r>
          </a:p>
          <a:p/>
          <a:p>
            <a:r>
              <a:t>df = pd.read_csv("lifesat.csv")   </a:t>
            </a:r>
            <a:r>
              <a:rPr>
                <a:solidFill>
                  <a:srgbClr val="5E5E5E"/>
                </a:solidFill>
              </a:rPr>
              <a:t># 1인당 GDP, 삶의 만족도</a:t>
            </a:r>
          </a:p>
          <a:p>
            <a:r>
              <a:t>X = df[["gdp_per_capita"]].values</a:t>
            </a:r>
          </a:p>
          <a:p>
            <a:r>
              <a:t>y = df["life_satisfaction"].values</a:t>
            </a:r>
          </a:p>
          <a:p/>
          <a:p>
            <a:r>
              <a:t>model = LinearRegression()        </a:t>
            </a:r>
            <a:r>
              <a:rPr>
                <a:solidFill>
                  <a:srgbClr val="5E5E5E"/>
                </a:solidFill>
              </a:rPr>
              <a:t># 모델 기반</a:t>
            </a:r>
          </a:p>
          <a:p>
            <a:r>
              <a:t>model.fit(X, y)</a:t>
            </a:r>
          </a:p>
          <a:p>
            <a:r>
              <a:rPr b="1"/>
              <a:t>print</a:t>
            </a:r>
            <a:r>
              <a:t>(model.predict([[37_655.2]]))       </a:t>
            </a:r>
            <a:r>
              <a:rPr>
                <a:solidFill>
                  <a:srgbClr val="5E5E5E"/>
                </a:solidFill>
              </a:rPr>
              <a:t># (결과) [[6.30]]</a:t>
            </a:r>
          </a:p>
          <a:p/>
          <a:p>
            <a:r>
              <a:rPr b="1"/>
              <a:t>from</a:t>
            </a:r>
            <a:r>
              <a:t> sklearn.neighbors </a:t>
            </a:r>
            <a:r>
              <a:rPr b="1"/>
              <a:t>import</a:t>
            </a:r>
            <a:r>
              <a:t> KNeighborsRegressor</a:t>
            </a:r>
          </a:p>
          <a:p>
            <a:r>
              <a:t>model = KNeighborsRegressor(n_neighbors=3)   </a:t>
            </a:r>
            <a:r>
              <a:rPr>
                <a:solidFill>
                  <a:srgbClr val="5E5E5E"/>
                </a:solidFill>
              </a:rPr>
              <a:t># 사례 기반</a:t>
            </a:r>
          </a:p>
          <a:p>
            <a:r>
              <a:t>model.fit(X, y)</a:t>
            </a:r>
          </a:p>
          <a:p>
            <a:r>
              <a:rPr b="1"/>
              <a:t>print</a:t>
            </a:r>
            <a:r>
              <a:t>(model.predict([[37_655.2]]))       </a:t>
            </a:r>
            <a:r>
              <a:rPr>
                <a:solidFill>
                  <a:srgbClr val="5E5E5E"/>
                </a:solidFill>
              </a:rPr>
              <a:t># (결과) [[6.33]]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주요 도전 과제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나쁜 데이터의 네 가지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과대적합과 과소적합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3.3  </a:t>
            </a:r>
            <a:r>
              <a:t>규제와 하이퍼파라미터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나쁜 데이터의 네 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주요 도전 과제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양 부족 — 문제가 복잡할수록 필요한 데이터 증가</a:t>
            </a:r>
          </a:p>
          <a:p>
            <a:pPr/>
            <a:r>
              <a:t>대표성 없음 — 1936년 미국 대선 여론조사의 표본 편향</a:t>
            </a:r>
          </a:p>
          <a:p>
            <a:pPr lvl="1"/>
            <a:r>
              <a:t>샘플링 잡음은 양의 문제, 샘플링 편향은 방법의 문제</a:t>
            </a:r>
          </a:p>
          <a:p>
            <a:pPr/>
            <a:r>
              <a:t>품질 낮음 — 오류·이상치·결측의 정제</a:t>
            </a:r>
          </a:p>
          <a:p>
            <a:pPr/>
            <a:r>
              <a:t>관련 없는 특성 — 특성 공학으로 대응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과대적합과 과소적합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주요 도전 과제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너무 단순 — 과소적합</a:t>
            </a:r>
          </a:p>
          <a:p>
            <a:pPr/>
            <a:r>
              <a:t>너무 복잡 — 과대적합</a:t>
            </a:r>
          </a:p>
          <a:p>
            <a:pPr/>
            <a:r>
              <a:t>잡음까지 외운 결과</a:t>
            </a:r>
          </a:p>
          <a:p>
            <a:pPr/>
            <a:r>
              <a:t>진단은 훈련·검증 오차의 격차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1. 모델 복잡도에 따른 과소적합과 과대적합 (합성 데이터)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fig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565392" cy="41489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3.3 규제와 하이퍼파라미터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주요 도전 과제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규제: 모델의 자유도에 제약을 걸어 과대적합을 줄임</a:t>
            </a:r>
          </a:p>
          <a:p>
            <a:pPr/>
            <a:r>
              <a:t>규제 강도는 훈련으로 정해지지 않음 — 하이퍼파라미터</a:t>
            </a:r>
          </a:p>
          <a:p>
            <a:pPr/>
            <a:r>
              <a:t>모델 파라미터는 훈련으로 정해지는 값</a:t>
            </a:r>
          </a:p>
          <a:p>
            <a:pPr/>
            <a:r>
              <a:t>과소적합의 처방은 반대 — 더 복잡한 모델, 더 나은 특성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테스트와 검증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일반화 성능의 측정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검증 세트와 교차 검증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4.3  </a:t>
            </a:r>
            <a:r>
              <a:t>데이터를 나누는 방식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일반화 성능의 측정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테스트와 검증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일반화 성능은 새 데이터로만 측정 — 훈련과 테스트를 분리</a:t>
            </a:r>
          </a:p>
          <a:p>
            <a:pPr/>
            <a:r>
              <a:t>훈련 오차가 낮아도 일반화 오차가 크면 과대적합</a:t>
            </a:r>
          </a:p>
          <a:p>
            <a:pPr/>
            <a:r>
              <a:t>관례: 훈련 80% · 테스트 20%</a:t>
            </a:r>
          </a:p>
          <a:p>
            <a:pPr/>
            <a:r>
              <a:t>테스트 세트는 마지막에 한 번만 사용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검증 세트와 교차 검증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테스트와 검증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테스트로 모델을 고르면 테스트에 과대적합</a:t>
            </a:r>
          </a:p>
          <a:p>
            <a:pPr lvl="1"/>
            <a:r>
              <a:t>선택과 튜닝에 쓸 검증 세트를 따로 확보</a:t>
            </a:r>
          </a:p>
          <a:p>
            <a:pPr/>
            <a:r>
              <a:t>검증 세트가 작으면 평가가 불안정</a:t>
            </a:r>
          </a:p>
          <a:p>
            <a:pPr lvl="1"/>
            <a:r>
              <a:t>교차 검증으로 여러 번 나눠 평균</a:t>
            </a:r>
          </a:p>
          <a:p>
            <a:pPr/>
            <a:r>
              <a:t>훈련·검증·테스트의 역할은 서로 바뀌지 않음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4.3 데이터를 나누는 방식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테스트와 검증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무작위 분할: 시기가 섞임</a:t>
            </a:r>
          </a:p>
          <a:p>
            <a:pPr/>
            <a:r>
              <a:t>시간 순서 분할: 과거로 학습</a:t>
            </a:r>
          </a:p>
          <a:p>
            <a:pPr/>
            <a:r>
              <a:t>시간 정보가 있으면 후자</a:t>
            </a:r>
          </a:p>
          <a:p>
            <a:pPr/>
            <a:r>
              <a:t>무작위 분할은 성능 과대평가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2. 시간 순서 분할과 무작위 분할의 구조 차이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fig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565392" cy="414896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오늘의 요약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5.2  </a:t>
            </a:r>
            <a:r>
              <a:t>이번 주 할 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오늘의 요약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머신러닝: 규칙을 데이터에서 찾는 방법</a:t>
            </a:r>
          </a:p>
          <a:p>
            <a:pPr/>
            <a:r>
              <a:t>시스템은 세 축의 조합 — 지도 방식, 학습 시점, 일반화 방식</a:t>
            </a:r>
          </a:p>
          <a:p>
            <a:pPr/>
            <a:r>
              <a:t>과대적합과 과소적합은 복잡도의 양쪽 끝, 규제로 조절</a:t>
            </a:r>
          </a:p>
          <a:p>
            <a:pPr/>
            <a:r>
              <a:t>성능 확인은 새 데이터로만 — 훈련·검증·테스트의 분리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5.2 이번 주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수요일 실습: 09-09 12:00, AI공학관 210호</a:t>
            </a:r>
          </a:p>
          <a:p>
            <a:pPr lvl="1"/>
            <a:r>
              <a:t>GitHub 계정과 AI 코딩 도구 설치, 노트북 지참</a:t>
            </a:r>
          </a:p>
          <a:p>
            <a:pPr/>
            <a:r>
              <a:t>교재 1장 읽기 — 오늘 다룬 절 중심</a:t>
            </a:r>
          </a:p>
          <a:p>
            <a:pPr/>
            <a:r>
              <a:t>다음 주: End-to-End 프로젝트 (핸즈온 Ch2)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다음 주 — End-to-End 프로젝트 (핸즈온 Ch2)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오피스 아워 수 17:00–20:00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