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6"/>
    <p:sldId id="265" r:id="rId5"/>
    <p:sldId id="266" r:id="rId4"/>
    <p:sldId id="267" r:id="rId3"/>
    <p:sldId id="268" r:id="rId2"/>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3.xml"/><Relationship Id="rId3" Type="http://schemas.openxmlformats.org/officeDocument/2006/relationships/slide" Target="slides/slide12.xml"/><Relationship Id="rId4" Type="http://schemas.openxmlformats.org/officeDocument/2006/relationships/slide" Target="slides/slide11.xml"/><Relationship Id="rId5" Type="http://schemas.openxmlformats.org/officeDocument/2006/relationships/slide" Target="slides/slide10.xml"/><Relationship Id="rId6" Type="http://schemas.openxmlformats.org/officeDocument/2006/relationships/slide" Target="slides/slide9.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목차는 표입니다. 섹션 수가 바뀌면 행을 삽입/삭제하세요.</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교재를 펴고 따라오게 한다. 이 장은 교재에서 코드가 거의 없는 유일한 장이고, 저자는 나머지를 읽기 전에 이 장을 모두 이해할 것을 요구한다. 수요일 실습은 개발 환경 세팅으로 따로 진행한다.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 1.1(p.28). 용어 세 가지를 여기서 정한다. 훈련 세트, 훈련 사례(샘플), 모델. 학생에게 버스 도착시간 예측을 T·P·E에 대입해 보게 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 1.2(p.29). 발송자가 `4U` 대신 `For U`를 쓰면 전통적 필터는 사람이 규칙을 고쳐야 하지만 머신러닝 필터는 스스로 인식한다. 뛰어난 분야 네 가지를 짚는다. 수동 조정이 많은 문제, 전통적 방식으로 풀 수 없는 문제, 유동적인 환경, 대량 데이터에서 인사이트 얻기.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 1.3(p.32). 통행시간·통행속도·ETA는 모두 회귀에 속한다. 교재의 회귀 행이 선형 회귀에서 랜덤 포레스트, 신경망, 트랜스포머로 이어지는데 이 수업이 그 순서를 그대로 따라간다.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 1.4(p.34) 도입부. 학생들이 트리 구조로 오해하기 쉬운 지점이다. 교재의 예는 심층 신경망으로 실시간 학습하는 스팸 필터로 온라인·모델 기반·지도 학습이다. ETA 모델은 배치·모델 기반·지도 학습이라고 대응시킨다.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 1.4.1 앞부분. 타깃은 회귀에서, 레이블은 분류에서 주로 쓴다. 로지스틱 회귀는 클래스에 속할 확률을 출력하는 분류 모델이다. 상관관계 있는 특성을 합치는 것이 특성 추출이다.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 1.4.1 뒷부분. 준지도는 대부분 지도와 비지도의 조합이다. 자기 지도는 훈련 중 생성된 레이블을 쓰고 목표가 분류·회귀라서 교재가 별개 범주로 둔다. 알파고는 대국 때 학습을 끄고 적용만 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 1.4.2. 외부 메모리 학습은 보통 오프라인으로 실행하므로 점진적 학습으로 생각하는 편이 낫다. 온라인 시스템은 나쁜 데이터가 들어오면 성능이 빠르게 떨어져 감시가 필요하다. 이 수업은 재현 가능한 비교를 위해 배치 학습을 쓴다.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 1.4.3. OECD 더 나은 삶의 지표와 세계 은행의 1인당 GDP를 합친 예제다. 클래스 이름만 바꾸면 두 방식을 교체할 수 있다. 프로젝트의 형태는 데이터 분석, 모델 선택, 훈련, 예측 순이고 마지막 단계를 추론이라 부른다.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 1.5.1~1.5.2(p.54). 데이터가 많으면 알고리즘 차이가 줄어든다는 결과가 있지만 교재는 곧바로 단서를 단다. 중소 규모 데이터셋이 흔하다. 1936년 미국 대선 여론조사는 부유층 편중과 비응답 편향이 겹친 사례다. 방학이나 특정 시간대만 뽑아 훈련하면 같은 편향이 생긴다.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 1.5.3~1.5.4. 엉터리가 들어가면 엉터리가 나온다. 3주차 Ch2의 전처리 파이프라인이 이 두 절의 실행판이다. 모빌리티 특성의 예는 남은 정류장 수, 남은 거리, 최근 세 구간의 평균 통행시간이다.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 1.5.5. 데이터의 양과 잡음에 비해 모델이 너무 복잡할 때 일어난다. 대응은 단순한 모델, 데이터 추가, 잡음 감소 세 가지다. 하이퍼파라미터는 모델이 아니라 학습 알고리즘의 파라미터이고 훈련 중에는 상수로 남는다.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 1.5.6~1.5.7. 파라미터와 하이퍼파라미터의 구분은 4주차 규제에서 수식으로 다시 나온다. 학습 곡선도 4주차에서 다룬다.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 1.6(p.62). 사이킷런 `train_test_split`의 기본값은 25퍼센트다. 샘플이 천만 개면 1퍼센트만 떼어도 십만 개라 추정에 충분하다.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 1.6.1. 절차는 검증 세트 분리, 후보 훈련, 검증에서 선택, 전체 훈련 세트로 재훈련, 테스트에서 평가 순이다. 교차 검증은 훈련 시간이 검증 세트 수에 비례해 늘어난다.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 1.6.2. 웹에서 내려받은 꽃 사진과 모바일 앱으로 찍은 사진의 예다. 공짜 점심 없음 이론은 구두로만 언급한다. 월퍼트가 1996년에 보인 것으로, 데이터에 아무 가정도 하지 않으면 한 모델을 다른 모델보다 선호할 근거가 없다는 내용이다.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 1장에는 없지만 ETA 프로젝트에 필요해 여기서 미리 짚는다. 무작위 분할이 왜 실제 운영 성능을 부풀리는지 그림으로 확인한다. 3주차 데이터 분할과 팀 프로젝트에서 데이터 누수로 다시 나온다.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 1.5.7의 핵심 요약을 따라 목표 세 가지를 닫는다.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과제는 5주차에 배포한다. 2~4주차는 이론과 수요일 실습에 집중한다.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2.xml><?xml version="1.0" encoding="utf-8"?>
<p:sldLayout xmlns:a="http://schemas.openxmlformats.org/drawingml/2006/main" xmlns:r="http://schemas.openxmlformats.org/officeDocument/2006/relationships" xmlns:p="http://schemas.openxmlformats.org/presentationml/2006/main" preserve="1">
  <p:cSld name="표지">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40080"/>
            <a:ext cx="2377440" cy="365760"/>
          </a:xfrm>
          <a:prstGeom prst="roundRect">
            <a:avLst>
              <a:gd name="adj" fmla="val 50000"/>
            </a:avLst>
          </a:prstGeom>
          <a:solidFill>
            <a:srgbClr val="EFEFEF"/>
          </a:solidFill>
          <a:ln/>
        </p:spPr>
        <p:txBody>
          <a:bodyPr wrap="square" lIns="0" tIns="0" rIns="0" bIns="0" rtlCol="0" anchor="ctr">
            <a:noAutofit/>
          </a:bodyPr>
          <a:lstStyle>
            <a:lvl1pPr algn="ctr" indent="0" marL="0">
              <a:buNone/>
              <a:defRPr lang="en-US" sz="1100" dirty="0">
                <a:solidFill>
                  <a:srgbClr val="000000"/>
                </a:solidFill>
                <a:latin typeface="Pretendard Medium" pitchFamily="34" charset="0"/>
                <a:ea typeface="Pretendard Medium" pitchFamily="34" charset="-122"/>
                <a:cs typeface="Pretendard Medium" pitchFamily="34" charset="-120"/>
              </a:defRPr>
            </a:lvl1pPr>
          </a:lstStyle>
          <a:p>
            <a:pPr algn="ctr" indent="0" marL="0">
              <a:buNone/>
            </a:pPr>
            <a:r>
              <a:rPr lang="en-US" sz="1100" dirty="0">
                <a:solidFill>
                  <a:srgbClr val="000000"/>
                </a:solidFill>
                <a:latin typeface="Pretendard Medium" pitchFamily="34" charset="0"/>
                <a:ea typeface="Pretendard Medium" pitchFamily="34" charset="-122"/>
                <a:cs typeface="Pretendard Medium" pitchFamily="34" charset="-120"/>
              </a:rPr>
              <a:t>과목 코드 · 과목명</a:t>
            </a:r>
            <a:endParaRPr lang="en-US" sz="1100" dirty="0"/>
          </a:p>
        </p:txBody>
      </p:sp>
      <p:sp>
        <p:nvSpPr>
          <p:cNvPr id="3" name="Text 0"/>
          <p:cNvSpPr/>
          <p:nvPr>
            <p:ph idx="101" type="body" hasCustomPrompt="1"/>
          </p:nvPr>
        </p:nvSpPr>
        <p:spPr>
          <a:xfrm>
            <a:off x="685800" y="1965960"/>
            <a:ext cx="5486400" cy="411480"/>
          </a:xfrm>
          <a:prstGeom prst="rect">
            <a:avLst/>
          </a:prstGeom>
          <a:noFill/>
          <a:ln/>
        </p:spPr>
        <p:txBody>
          <a:bodyPr wrap="square" lIns="0" tIns="0" rIns="0" bIns="0" rtlCol="0" anchor="t">
            <a:noAutofit/>
          </a:bodyPr>
          <a:lstStyle>
            <a:lvl1pPr algn="l" indent="0" marL="0">
              <a:buNone/>
              <a:defRPr lang="en-US" sz="1800" dirty="0">
                <a:solidFill>
                  <a:srgbClr val="AFAFAF"/>
                </a:solidFill>
                <a:latin typeface="Pretendard Medium" pitchFamily="34" charset="0"/>
                <a:ea typeface="Pretendard Medium" pitchFamily="34" charset="-122"/>
                <a:cs typeface="Pretendard Medium" pitchFamily="34" charset="-120"/>
              </a:defRPr>
            </a:lvl1pPr>
          </a:lstStyle>
          <a:p>
            <a:pPr indent="0" marL="0">
              <a:buNone/>
            </a:pPr>
            <a:r>
              <a:rPr lang="en-US" sz="1800" dirty="0">
                <a:solidFill>
                  <a:srgbClr val="AFAFAF"/>
                </a:solidFill>
                <a:latin typeface="Pretendard Medium" pitchFamily="34" charset="0"/>
                <a:ea typeface="Pretendard Medium" pitchFamily="34" charset="-122"/>
                <a:cs typeface="Pretendard Medium" pitchFamily="34" charset="-120"/>
              </a:rPr>
              <a:t>N주차</a:t>
            </a:r>
            <a:endParaRPr lang="en-US" sz="1800" dirty="0"/>
          </a:p>
        </p:txBody>
      </p:sp>
      <p:sp>
        <p:nvSpPr>
          <p:cNvPr id="4" name="Text 0"/>
          <p:cNvSpPr/>
          <p:nvPr>
            <p:ph idx="102" type="title" hasCustomPrompt="1"/>
          </p:nvPr>
        </p:nvSpPr>
        <p:spPr>
          <a:xfrm>
            <a:off x="685800" y="2377440"/>
            <a:ext cx="10515600" cy="1097280"/>
          </a:xfrm>
          <a:prstGeom prst="rect">
            <a:avLst/>
          </a:prstGeom>
          <a:noFill/>
          <a:ln/>
        </p:spPr>
        <p:txBody>
          <a:bodyPr wrap="square" lIns="0" tIns="0" rIns="0" bIns="0" rtlCol="0" anchor="ctr">
            <a:noAutofit/>
          </a:bodyPr>
          <a:lstStyle>
            <a:lvl1pPr algn="l" indent="0" marL="0">
              <a:buNone/>
              <a:defRPr lang="en-US" sz="5200" dirty="0">
                <a:solidFill>
                  <a:srgbClr val="000000"/>
                </a:solidFill>
                <a:latin typeface="Pretendard ExtraBold" pitchFamily="34" charset="0"/>
                <a:ea typeface="Pretendard ExtraBold" pitchFamily="34" charset="-122"/>
                <a:cs typeface="Pretendard ExtraBold" pitchFamily="34" charset="-120"/>
              </a:defRPr>
            </a:lvl1pPr>
          </a:lstStyle>
          <a:p>
            <a:pPr indent="0" marL="0">
              <a:buNone/>
            </a:pPr>
            <a:r>
              <a:rPr lang="en-US" sz="5200" dirty="0">
                <a:solidFill>
                  <a:srgbClr val="000000"/>
                </a:solidFill>
                <a:latin typeface="Pretendard ExtraBold" pitchFamily="34" charset="0"/>
                <a:ea typeface="Pretendard ExtraBold" pitchFamily="34" charset="-122"/>
                <a:cs typeface="Pretendard ExtraBold" pitchFamily="34" charset="-120"/>
              </a:rPr>
              <a:t>강의 제목</a:t>
            </a:r>
            <a:endParaRPr lang="en-US" sz="5200" dirty="0"/>
          </a:p>
        </p:txBody>
      </p:sp>
      <p:sp>
        <p:nvSpPr>
          <p:cNvPr id="5" name="Text 0"/>
          <p:cNvSpPr/>
          <p:nvPr>
            <p:ph idx="103" type="body" hasCustomPrompt="1"/>
          </p:nvPr>
        </p:nvSpPr>
        <p:spPr>
          <a:xfrm>
            <a:off x="685800" y="3474720"/>
            <a:ext cx="10058400" cy="548640"/>
          </a:xfrm>
          <a:prstGeom prst="rect">
            <a:avLst/>
          </a:prstGeom>
          <a:noFill/>
          <a:ln/>
        </p:spPr>
        <p:txBody>
          <a:bodyPr wrap="square" lIns="0" tIns="0" rIns="0" bIns="0" rtlCol="0" anchor="t">
            <a:noAutofit/>
          </a:bodyPr>
          <a:lstStyle>
            <a:lvl1pPr algn="l" indent="0" marL="0">
              <a:buNone/>
              <a:defRPr lang="en-US" sz="2200" dirty="0">
                <a:solidFill>
                  <a:srgbClr val="000000"/>
                </a:solidFill>
                <a:latin typeface="Pretendard ExtraLight" pitchFamily="34" charset="0"/>
                <a:ea typeface="Pretendard ExtraLight" pitchFamily="34" charset="-122"/>
                <a:cs typeface="Pretendard ExtraLight" pitchFamily="34" charset="-120"/>
              </a:defRPr>
            </a:lvl1pPr>
          </a:lstStyle>
          <a:p>
            <a:pPr indent="0" marL="0">
              <a:buNone/>
            </a:pPr>
            <a:r>
              <a:rPr lang="en-US" sz="2200" dirty="0">
                <a:solidFill>
                  <a:srgbClr val="000000"/>
                </a:solidFill>
                <a:latin typeface="Pretendard ExtraLight" pitchFamily="34" charset="0"/>
                <a:ea typeface="Pretendard ExtraLight" pitchFamily="34" charset="-122"/>
                <a:cs typeface="Pretendard ExtraLight" pitchFamily="34" charset="-120"/>
              </a:rPr>
              <a:t>부제</a:t>
            </a:r>
            <a:endParaRPr lang="en-US" sz="2200" dirty="0"/>
          </a:p>
        </p:txBody>
      </p:sp>
      <p:sp>
        <p:nvSpPr>
          <p:cNvPr id="6" name="Text 0"/>
          <p:cNvSpPr/>
          <p:nvPr>
            <p:ph idx="104" type="body" hasCustomPrompt="1"/>
          </p:nvPr>
        </p:nvSpPr>
        <p:spPr>
          <a:xfrm>
            <a:off x="685800" y="5577840"/>
            <a:ext cx="6400800" cy="320040"/>
          </a:xfrm>
          <a:prstGeom prst="rect">
            <a:avLst/>
          </a:prstGeom>
          <a:noFill/>
          <a:ln/>
        </p:spPr>
        <p:txBody>
          <a:bodyPr wrap="square" lIns="0" tIns="0" rIns="0" bIns="0" rtlCol="0" anchor="t">
            <a:noAutofit/>
          </a:bodyPr>
          <a:lstStyle>
            <a:lvl1pPr algn="l" indent="0" marL="0">
              <a:buNone/>
              <a:defRPr lang="en-US" sz="1400" dirty="0">
                <a:solidFill>
                  <a:srgbClr val="000000"/>
                </a:solidFill>
                <a:latin typeface="Pretendard Medium" pitchFamily="34" charset="0"/>
                <a:ea typeface="Pretendard Medium" pitchFamily="34" charset="-122"/>
                <a:cs typeface="Pretendard Medium" pitchFamily="34" charset="-120"/>
              </a:defRPr>
            </a:lvl1pPr>
          </a:lstStyle>
          <a:p>
            <a:pPr indent="0" marL="0">
              <a:buNone/>
            </a:pPr>
            <a:r>
              <a:rPr lang="en-US" sz="1400" dirty="0">
                <a:solidFill>
                  <a:srgbClr val="000000"/>
                </a:solidFill>
                <a:latin typeface="Pretendard Medium" pitchFamily="34" charset="0"/>
                <a:ea typeface="Pretendard Medium" pitchFamily="34" charset="-122"/>
                <a:cs typeface="Pretendard Medium" pitchFamily="34" charset="-120"/>
              </a:rPr>
              <a:t>이름 · 소속</a:t>
            </a:r>
            <a:endParaRPr lang="en-US" sz="1400" dirty="0"/>
          </a:p>
        </p:txBody>
      </p:sp>
      <p:sp>
        <p:nvSpPr>
          <p:cNvPr id="7" name="Text 0"/>
          <p:cNvSpPr/>
          <p:nvPr>
            <p:ph idx="105" type="body" hasCustomPrompt="1"/>
          </p:nvPr>
        </p:nvSpPr>
        <p:spPr>
          <a:xfrm>
            <a:off x="685800" y="5897880"/>
            <a:ext cx="6400800" cy="320040"/>
          </a:xfrm>
          <a:prstGeom prst="rect">
            <a:avLst/>
          </a:prstGeom>
          <a:noFill/>
          <a:ln/>
        </p:spPr>
        <p:txBody>
          <a:bodyPr wrap="square" lIns="0" tIns="0" rIns="0" bIns="0" rtlCol="0" anchor="t">
            <a:noAutofit/>
          </a:bodyPr>
          <a:lstStyle>
            <a:lvl1pPr algn="l" indent="0" marL="0">
              <a:buNone/>
              <a:defRPr lang="en-US" sz="1400" dirty="0">
                <a:solidFill>
                  <a:srgbClr val="AFAFAF"/>
                </a:solidFill>
                <a:latin typeface="Pretendard Medium" pitchFamily="34" charset="0"/>
                <a:ea typeface="Pretendard Medium" pitchFamily="34" charset="-122"/>
                <a:cs typeface="Pretendard Medium" pitchFamily="34" charset="-120"/>
              </a:defRPr>
            </a:lvl1pPr>
          </a:lstStyle>
          <a:p>
            <a:pPr indent="0" marL="0">
              <a:buNone/>
            </a:pPr>
            <a:r>
              <a:rPr lang="en-US" sz="1400" dirty="0">
                <a:solidFill>
                  <a:srgbClr val="AFAFAF"/>
                </a:solidFill>
                <a:latin typeface="Pretendard Medium" pitchFamily="34" charset="0"/>
                <a:ea typeface="Pretendard Medium" pitchFamily="34" charset="-122"/>
                <a:cs typeface="Pretendard Medium" pitchFamily="34" charset="-120"/>
              </a:rPr>
              <a:t>날짜</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섹션">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1371600"/>
            <a:ext cx="4572000" cy="2011680"/>
          </a:xfrm>
          <a:prstGeom prst="rect">
            <a:avLst/>
          </a:prstGeom>
          <a:noFill/>
          <a:ln/>
        </p:spPr>
        <p:txBody>
          <a:bodyPr wrap="square" lIns="0" tIns="0" rIns="0" bIns="0" rtlCol="0" anchor="b">
            <a:noAutofit/>
          </a:bodyPr>
          <a:lstStyle>
            <a:lvl1pPr algn="l" indent="0" marL="0">
              <a:buNone/>
              <a:defRPr lang="en-US" sz="12000" dirty="0">
                <a:solidFill>
                  <a:srgbClr val="AFAFAF"/>
                </a:solidFill>
                <a:latin typeface="Pretendard ExtraLight" pitchFamily="34" charset="0"/>
                <a:ea typeface="Pretendard ExtraLight" pitchFamily="34" charset="-122"/>
                <a:cs typeface="Pretendard ExtraLight" pitchFamily="34" charset="-120"/>
              </a:defRPr>
            </a:lvl1pPr>
          </a:lstStyle>
          <a:p>
            <a:pPr indent="0" marL="0">
              <a:buNone/>
            </a:pPr>
            <a:r>
              <a:rPr lang="en-US" sz="12000" dirty="0">
                <a:solidFill>
                  <a:srgbClr val="AFAFAF"/>
                </a:solidFill>
                <a:latin typeface="Pretendard ExtraLight" pitchFamily="34" charset="0"/>
                <a:ea typeface="Pretendard ExtraLight" pitchFamily="34" charset="-122"/>
                <a:cs typeface="Pretendard ExtraLight" pitchFamily="34" charset="-120"/>
              </a:rPr>
              <a:t>01</a:t>
            </a:r>
            <a:endParaRPr lang="en-US" sz="12000" dirty="0"/>
          </a:p>
        </p:txBody>
      </p:sp>
      <p:sp>
        <p:nvSpPr>
          <p:cNvPr id="3" name="Text 0"/>
          <p:cNvSpPr/>
          <p:nvPr>
            <p:ph idx="101" type="title" hasCustomPrompt="1"/>
          </p:nvPr>
        </p:nvSpPr>
        <p:spPr>
          <a:xfrm>
            <a:off x="685800" y="3520440"/>
            <a:ext cx="5486400" cy="822960"/>
          </a:xfrm>
          <a:prstGeom prst="rect">
            <a:avLst/>
          </a:prstGeom>
          <a:noFill/>
          <a:ln/>
        </p:spPr>
        <p:txBody>
          <a:bodyPr wrap="square" lIns="0" tIns="0" rIns="0" bIns="0" rtlCol="0" anchor="t">
            <a:noAutofit/>
          </a:bodyPr>
          <a:lstStyle>
            <a:lvl1pPr algn="l" indent="0" marL="0">
              <a:buNone/>
              <a:defRPr lang="en-US" sz="4400" dirty="0">
                <a:solidFill>
                  <a:srgbClr val="000000"/>
                </a:solidFill>
                <a:latin typeface="Pretendard ExtraBold" pitchFamily="34" charset="0"/>
                <a:ea typeface="Pretendard ExtraBold" pitchFamily="34" charset="-122"/>
                <a:cs typeface="Pretendard ExtraBold" pitchFamily="34" charset="-120"/>
              </a:defRPr>
            </a:lvl1pPr>
          </a:lstStyle>
          <a:p>
            <a:pPr indent="0" marL="0">
              <a:buNone/>
            </a:pPr>
            <a:r>
              <a:rPr lang="en-US" sz="4400" dirty="0">
                <a:solidFill>
                  <a:srgbClr val="000000"/>
                </a:solidFill>
                <a:latin typeface="Pretendard ExtraBold" pitchFamily="34" charset="0"/>
                <a:ea typeface="Pretendard ExtraBold" pitchFamily="34" charset="-122"/>
                <a:cs typeface="Pretendard ExtraBold" pitchFamily="34" charset="-120"/>
              </a:rPr>
              <a:t>섹션 이름</a:t>
            </a:r>
            <a:endParaRPr lang="en-US" sz="4400" dirty="0"/>
          </a:p>
        </p:txBody>
      </p:sp>
      <p:sp>
        <p:nvSpPr>
          <p:cNvPr id="4" name="Text 0"/>
          <p:cNvSpPr/>
          <p:nvPr>
            <p:ph idx="102" type="body" hasCustomPrompt="1"/>
          </p:nvPr>
        </p:nvSpPr>
        <p:spPr>
          <a:xfrm>
            <a:off x="6949440" y="3611880"/>
            <a:ext cx="4572000" cy="2194560"/>
          </a:xfrm>
          <a:prstGeom prst="rect">
            <a:avLst/>
          </a:prstGeom>
          <a:noFill/>
          <a:ln/>
        </p:spPr>
        <p:txBody>
          <a:bodyPr wrap="square" lIns="0" tIns="0" rIns="0" bIns="0" rtlCol="0" anchor="t">
            <a:noAutofit/>
          </a:bodyPr>
          <a:lstStyle>
            <a:lvl1pPr algn="l" indent="0" marL="0">
              <a:buNone/>
              <a:defRPr lang="en-US" sz="1600" dirty="0">
                <a:solidFill>
                  <a:srgbClr val="000000"/>
                </a:solidFill>
                <a:latin typeface="Pretendard Medium" pitchFamily="34" charset="0"/>
                <a:ea typeface="Pretendard Medium" pitchFamily="34" charset="-122"/>
                <a:cs typeface="Pretendard Medium" pitchFamily="34" charset="-120"/>
              </a:defRPr>
            </a:lvl1pPr>
          </a:lstStyle>
          <a:p>
            <a:pPr indent="0" marL="0">
              <a:buNone/>
            </a:pPr>
            <a:r>
              <a:rPr lang="en-US" sz="1600" dirty="0">
                <a:solidFill>
                  <a:srgbClr val="000000"/>
                </a:solidFill>
                <a:latin typeface="Pretendard Medium" pitchFamily="34" charset="0"/>
                <a:ea typeface="Pretendard Medium" pitchFamily="34" charset="-122"/>
                <a:cs typeface="Pretendard Medium" pitchFamily="34" charset="-120"/>
              </a:rPr>
              <a:t>1.1 하위 섹션</a:t>
            </a:r>
            <a:endParaRPr lang="en-US" sz="1600" dirty="0"/>
          </a:p>
        </p:txBody>
      </p:sp>
      <p:sp>
        <p:nvSpPr>
          <p:cNvPr id="5" name="Text 0"/>
          <p:cNvSpPr/>
          <p:nvPr/>
        </p:nvSpPr>
        <p:spPr>
          <a:xfrm>
            <a:off x="685800" y="6355080"/>
            <a:ext cx="5486400" cy="274320"/>
          </a:xfrm>
          <a:prstGeom prst="rect">
            <a:avLst/>
          </a:prstGeom>
          <a:noFill/>
          <a:ln/>
        </p:spPr>
        <p:txBody>
          <a:bodyPr wrap="square" lIns="0" tIns="0" rIns="0" bIns="0" rtlCol="0" anchor="ctr"/>
          <a:lstStyle/>
          <a:p>
            <a:pPr indent="0" marL="0">
              <a:buNone/>
            </a:pPr>
            <a:r>
              <a:rPr lang="en-US" sz="1000" dirty="0">
                <a:solidFill>
                  <a:srgbClr val="AFAFAF"/>
                </a:solidFill>
                <a:latin typeface="Pretendard Medium" pitchFamily="34" charset="0"/>
                <a:ea typeface="Pretendard Medium" pitchFamily="34" charset="-122"/>
                <a:cs typeface="Pretendard Medium" pitchFamily="34" charset="-120"/>
              </a:rPr>
              <a:t>AI 모빌리티 · 2026 가을학기</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본문">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502920"/>
            <a:ext cx="8595360" cy="685800"/>
          </a:xfrm>
          <a:prstGeom prst="rect">
            <a:avLst/>
          </a:prstGeom>
          <a:noFill/>
          <a:ln/>
        </p:spPr>
        <p:txBody>
          <a:bodyPr wrap="square" lIns="0" tIns="0" rIns="0" bIns="0" rtlCol="0" anchor="ctr">
            <a:noAutofit/>
          </a:bodyPr>
          <a:lstStyle>
            <a:lvl1pPr algn="l" indent="0" marL="0">
              <a:buNone/>
              <a:defRPr lang="en-US" sz="2800" b="1" dirty="0">
                <a:solidFill>
                  <a:srgbClr val="000000"/>
                </a:solidFill>
                <a:latin typeface="Pretendard" pitchFamily="34" charset="0"/>
                <a:ea typeface="Pretendard" pitchFamily="34" charset="-122"/>
                <a:cs typeface="Pretendard" pitchFamily="34" charset="-120"/>
              </a:defRPr>
            </a:lvl1pPr>
          </a:lstStyle>
          <a:p>
            <a:pPr indent="0" marL="0">
              <a:buNone/>
            </a:pPr>
            <a:r>
              <a:rPr lang="en-US" sz="2800" b="1" dirty="0">
                <a:solidFill>
                  <a:srgbClr val="000000"/>
                </a:solidFill>
                <a:latin typeface="Pretendard" pitchFamily="34" charset="0"/>
                <a:ea typeface="Pretendard" pitchFamily="34" charset="-122"/>
                <a:cs typeface="Pretendard" pitchFamily="34" charset="-120"/>
              </a:rPr>
              <a:t>1.1 슬라이드 제목</a:t>
            </a:r>
            <a:endParaRPr lang="en-US" sz="2800" dirty="0"/>
          </a:p>
        </p:txBody>
      </p:sp>
      <p:sp>
        <p:nvSpPr>
          <p:cNvPr id="3" name="Text 0"/>
          <p:cNvSpPr/>
          <p:nvPr>
            <p:ph idx="101" type="body" hasCustomPrompt="1"/>
          </p:nvPr>
        </p:nvSpPr>
        <p:spPr>
          <a:xfrm>
            <a:off x="9677095" y="667512"/>
            <a:ext cx="1828800" cy="365760"/>
          </a:xfrm>
          <a:prstGeom prst="roundRect">
            <a:avLst>
              <a:gd name="adj" fmla="val 50000"/>
            </a:avLst>
          </a:prstGeom>
          <a:solidFill>
            <a:srgbClr val="EFEFEF"/>
          </a:solidFill>
          <a:ln/>
        </p:spPr>
        <p:txBody>
          <a:bodyPr wrap="square" lIns="0" tIns="0" rIns="0" bIns="0" rtlCol="0" anchor="ctr">
            <a:noAutofit/>
          </a:bodyPr>
          <a:lstStyle>
            <a:lvl1pPr algn="ctr" indent="0" marL="0">
              <a:buNone/>
              <a:defRPr lang="en-US" sz="1100" dirty="0">
                <a:solidFill>
                  <a:srgbClr val="000000"/>
                </a:solidFill>
                <a:latin typeface="Pretendard Medium" pitchFamily="34" charset="0"/>
                <a:ea typeface="Pretendard Medium" pitchFamily="34" charset="-122"/>
                <a:cs typeface="Pretendard Medium" pitchFamily="34" charset="-120"/>
              </a:defRPr>
            </a:lvl1pPr>
          </a:lstStyle>
          <a:p>
            <a:pPr algn="ctr" indent="0" marL="0">
              <a:buNone/>
            </a:pPr>
            <a:r>
              <a:rPr lang="en-US" sz="1100" dirty="0">
                <a:solidFill>
                  <a:srgbClr val="000000"/>
                </a:solidFill>
                <a:latin typeface="Pretendard Medium" pitchFamily="34" charset="0"/>
                <a:ea typeface="Pretendard Medium" pitchFamily="34" charset="-122"/>
                <a:cs typeface="Pretendard Medium" pitchFamily="34" charset="-120"/>
              </a:rPr>
              <a:t>1. 섹션</a:t>
            </a:r>
            <a:endParaRPr lang="en-US" sz="1100" dirty="0"/>
          </a:p>
        </p:txBody>
      </p:sp>
      <p:sp>
        <p:nvSpPr>
          <p:cNvPr id="4" name="Text 0"/>
          <p:cNvSpPr/>
          <p:nvPr>
            <p:ph idx="102" type="body" hasCustomPrompt="1"/>
          </p:nvPr>
        </p:nvSpPr>
        <p:spPr>
          <a:xfrm>
            <a:off x="685800" y="1417320"/>
            <a:ext cx="10820095" cy="4663440"/>
          </a:xfrm>
          <a:prstGeom prst="rect">
            <a:avLst/>
          </a:prstGeom>
          <a:noFill/>
          <a:ln/>
        </p:spPr>
        <p:txBody>
          <a:bodyPr wrap="square" lIns="0" tIns="0" rIns="0" bIns="0" rtlCol="0" anchor="t">
            <a:noAutofit/>
          </a:bodyPr>
          <a:lstStyle>
            <a:lvl1pPr algn="l" marL="228600" indent="-228600">
              <a:lnSpc>
                <a:spcPct val="115000"/>
              </a:lnSpc>
              <a:spcAft>
                <a:spcPts val="1000"/>
              </a:spcAft>
              <a:buClr>
                <a:srgbClr val="000000"/>
              </a:buClr>
              <a:buFont typeface="Arial"/>
              <a:buChar char="•"/>
              <a:defRPr sz="1600">
                <a:solidFill>
                  <a:srgbClr val="000000"/>
                </a:solidFill>
                <a:latin typeface="Pretendard Medium"/>
                <a:ea typeface="Pretendard Medium"/>
                <a:cs typeface="Pretendard Medium"/>
              </a:defRPr>
            </a:lvl1pPr>
            <a:lvl2pPr marL="406400" indent="-203200">
              <a:lnSpc>
                <a:spcPct val="115000"/>
              </a:lnSpc>
              <a:spcAft>
                <a:spcPts val="600"/>
              </a:spcAft>
              <a:buClr>
                <a:srgbClr val="5E5E5E"/>
              </a:buClr>
              <a:buFont typeface="Arial"/>
              <a:buChar char="–"/>
              <a:defRPr sz="1400">
                <a:solidFill>
                  <a:srgbClr val="5E5E5E"/>
                </a:solidFill>
                <a:latin typeface="Pretendard Medium"/>
                <a:ea typeface="Pretendard Medium"/>
                <a:cs typeface="Pretendard Medium"/>
              </a:defRPr>
            </a:lvl2pPr>
            <a:lvl3pPr marL="609600" indent="-203200">
              <a:lnSpc>
                <a:spcPct val="115000"/>
              </a:lnSpc>
              <a:spcAft>
                <a:spcPts val="600"/>
              </a:spcAft>
              <a:buClr>
                <a:srgbClr val="5E5E5E"/>
              </a:buClr>
              <a:buFont typeface="Arial"/>
              <a:buChar char="–"/>
              <a:defRPr sz="1400">
                <a:solidFill>
                  <a:srgbClr val="5E5E5E"/>
                </a:solidFill>
                <a:latin typeface="Pretendard Medium"/>
                <a:ea typeface="Pretendard Medium"/>
                <a:cs typeface="Pretendard Medium"/>
              </a:defRPr>
            </a:lvl3pPr>
          </a:lstStyle>
          <a:p>
            <a:pPr indent="0" marL="0">
              <a:buNone/>
            </a:pPr>
            <a:r>
              <a:rPr lang="en-US" sz="1600" dirty="0">
                <a:solidFill>
                  <a:srgbClr val="000000"/>
                </a:solidFill>
                <a:latin typeface="Pretendard Medium" pitchFamily="34" charset="0"/>
                <a:ea typeface="Pretendard Medium" pitchFamily="34" charset="-122"/>
                <a:cs typeface="Pretendard Medium" pitchFamily="34" charset="-120"/>
              </a:rPr>
              <a:t>본문 (Tab: 2단계 불릿)</a:t>
            </a:r>
            <a:endParaRPr lang="en-US" sz="1600" dirty="0"/>
          </a:p>
        </p:txBody>
      </p:sp>
      <p:sp>
        <p:nvSpPr>
          <p:cNvPr id="5" name="Text 0"/>
          <p:cNvSpPr/>
          <p:nvPr/>
        </p:nvSpPr>
        <p:spPr>
          <a:xfrm>
            <a:off x="685800" y="6355080"/>
            <a:ext cx="5486400" cy="274320"/>
          </a:xfrm>
          <a:prstGeom prst="rect">
            <a:avLst/>
          </a:prstGeom>
          <a:noFill/>
          <a:ln/>
        </p:spPr>
        <p:txBody>
          <a:bodyPr wrap="square" lIns="0" tIns="0" rIns="0" bIns="0" rtlCol="0" anchor="ctr"/>
          <a:lstStyle/>
          <a:p>
            <a:pPr indent="0" marL="0">
              <a:buNone/>
            </a:pPr>
            <a:r>
              <a:rPr lang="en-US" sz="1000" dirty="0">
                <a:solidFill>
                  <a:srgbClr val="AFAFAF"/>
                </a:solidFill>
                <a:latin typeface="Pretendard Medium" pitchFamily="34" charset="0"/>
                <a:ea typeface="Pretendard Medium" pitchFamily="34" charset="-122"/>
                <a:cs typeface="Pretendard Medium" pitchFamily="34" charset="-120"/>
              </a:rPr>
              <a:t>AI 모빌리티 · 2026 가을학기</a:t>
            </a:r>
            <a:endParaRPr lang="en-US" sz="1000" dirty="0"/>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본문+그림">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502920"/>
            <a:ext cx="8595360" cy="685800"/>
          </a:xfrm>
          <a:prstGeom prst="rect">
            <a:avLst/>
          </a:prstGeom>
          <a:noFill/>
          <a:ln/>
        </p:spPr>
        <p:txBody>
          <a:bodyPr wrap="square" lIns="0" tIns="0" rIns="0" bIns="0" rtlCol="0" anchor="ctr">
            <a:noAutofit/>
          </a:bodyPr>
          <a:lstStyle>
            <a:lvl1pPr algn="l" indent="0" marL="0">
              <a:buNone/>
              <a:defRPr lang="en-US" sz="2800" b="1" dirty="0">
                <a:solidFill>
                  <a:srgbClr val="000000"/>
                </a:solidFill>
                <a:latin typeface="Pretendard" pitchFamily="34" charset="0"/>
                <a:ea typeface="Pretendard" pitchFamily="34" charset="-122"/>
                <a:cs typeface="Pretendard" pitchFamily="34" charset="-120"/>
              </a:defRPr>
            </a:lvl1pPr>
          </a:lstStyle>
          <a:p>
            <a:pPr indent="0" marL="0">
              <a:buNone/>
            </a:pPr>
            <a:r>
              <a:rPr lang="en-US" sz="2800" b="1" dirty="0">
                <a:solidFill>
                  <a:srgbClr val="000000"/>
                </a:solidFill>
                <a:latin typeface="Pretendard" pitchFamily="34" charset="0"/>
                <a:ea typeface="Pretendard" pitchFamily="34" charset="-122"/>
                <a:cs typeface="Pretendard" pitchFamily="34" charset="-120"/>
              </a:rPr>
              <a:t>1.1 슬라이드 제목</a:t>
            </a:r>
            <a:endParaRPr lang="en-US" sz="2800" dirty="0"/>
          </a:p>
        </p:txBody>
      </p:sp>
      <p:sp>
        <p:nvSpPr>
          <p:cNvPr id="3" name="Text 0"/>
          <p:cNvSpPr/>
          <p:nvPr>
            <p:ph idx="101" type="body" hasCustomPrompt="1"/>
          </p:nvPr>
        </p:nvSpPr>
        <p:spPr>
          <a:xfrm>
            <a:off x="9677095" y="667512"/>
            <a:ext cx="1828800" cy="365760"/>
          </a:xfrm>
          <a:prstGeom prst="roundRect">
            <a:avLst>
              <a:gd name="adj" fmla="val 50000"/>
            </a:avLst>
          </a:prstGeom>
          <a:solidFill>
            <a:srgbClr val="EFEFEF"/>
          </a:solidFill>
          <a:ln/>
        </p:spPr>
        <p:txBody>
          <a:bodyPr wrap="square" lIns="0" tIns="0" rIns="0" bIns="0" rtlCol="0" anchor="ctr">
            <a:noAutofit/>
          </a:bodyPr>
          <a:lstStyle>
            <a:lvl1pPr algn="ctr" indent="0" marL="0">
              <a:buNone/>
              <a:defRPr lang="en-US" sz="1100" dirty="0">
                <a:solidFill>
                  <a:srgbClr val="000000"/>
                </a:solidFill>
                <a:latin typeface="Pretendard Medium" pitchFamily="34" charset="0"/>
                <a:ea typeface="Pretendard Medium" pitchFamily="34" charset="-122"/>
                <a:cs typeface="Pretendard Medium" pitchFamily="34" charset="-120"/>
              </a:defRPr>
            </a:lvl1pPr>
          </a:lstStyle>
          <a:p>
            <a:pPr algn="ctr" indent="0" marL="0">
              <a:buNone/>
            </a:pPr>
            <a:r>
              <a:rPr lang="en-US" sz="1100" dirty="0">
                <a:solidFill>
                  <a:srgbClr val="000000"/>
                </a:solidFill>
                <a:latin typeface="Pretendard Medium" pitchFamily="34" charset="0"/>
                <a:ea typeface="Pretendard Medium" pitchFamily="34" charset="-122"/>
                <a:cs typeface="Pretendard Medium" pitchFamily="34" charset="-120"/>
              </a:rPr>
              <a:t>1. 섹션</a:t>
            </a:r>
            <a:endParaRPr lang="en-US" sz="1100" dirty="0"/>
          </a:p>
        </p:txBody>
      </p:sp>
      <p:sp>
        <p:nvSpPr>
          <p:cNvPr id="4" name="Text 0"/>
          <p:cNvSpPr/>
          <p:nvPr>
            <p:ph idx="102" type="body" hasCustomPrompt="1"/>
          </p:nvPr>
        </p:nvSpPr>
        <p:spPr>
          <a:xfrm>
            <a:off x="685800" y="1417320"/>
            <a:ext cx="3931920" cy="4663440"/>
          </a:xfrm>
          <a:prstGeom prst="rect">
            <a:avLst/>
          </a:prstGeom>
          <a:noFill/>
          <a:ln/>
        </p:spPr>
        <p:txBody>
          <a:bodyPr wrap="square" lIns="0" tIns="0" rIns="0" bIns="0" rtlCol="0" anchor="t">
            <a:noAutofit/>
          </a:bodyPr>
          <a:lstStyle>
            <a:lvl1pPr algn="l" marL="228600" indent="-228600">
              <a:lnSpc>
                <a:spcPct val="115000"/>
              </a:lnSpc>
              <a:spcAft>
                <a:spcPts val="1000"/>
              </a:spcAft>
              <a:buClr>
                <a:srgbClr val="000000"/>
              </a:buClr>
              <a:buFont typeface="Arial"/>
              <a:buChar char="•"/>
              <a:defRPr sz="1600">
                <a:solidFill>
                  <a:srgbClr val="000000"/>
                </a:solidFill>
                <a:latin typeface="Pretendard Medium"/>
                <a:ea typeface="Pretendard Medium"/>
                <a:cs typeface="Pretendard Medium"/>
              </a:defRPr>
            </a:lvl1pPr>
            <a:lvl2pPr marL="406400" indent="-203200">
              <a:lnSpc>
                <a:spcPct val="115000"/>
              </a:lnSpc>
              <a:spcAft>
                <a:spcPts val="600"/>
              </a:spcAft>
              <a:buClr>
                <a:srgbClr val="5E5E5E"/>
              </a:buClr>
              <a:buFont typeface="Arial"/>
              <a:buChar char="–"/>
              <a:defRPr sz="1400">
                <a:solidFill>
                  <a:srgbClr val="5E5E5E"/>
                </a:solidFill>
                <a:latin typeface="Pretendard Medium"/>
                <a:ea typeface="Pretendard Medium"/>
                <a:cs typeface="Pretendard Medium"/>
              </a:defRPr>
            </a:lvl2pPr>
            <a:lvl3pPr marL="609600" indent="-203200">
              <a:lnSpc>
                <a:spcPct val="115000"/>
              </a:lnSpc>
              <a:spcAft>
                <a:spcPts val="600"/>
              </a:spcAft>
              <a:buClr>
                <a:srgbClr val="5E5E5E"/>
              </a:buClr>
              <a:buFont typeface="Arial"/>
              <a:buChar char="–"/>
              <a:defRPr sz="1400">
                <a:solidFill>
                  <a:srgbClr val="5E5E5E"/>
                </a:solidFill>
                <a:latin typeface="Pretendard Medium"/>
                <a:ea typeface="Pretendard Medium"/>
                <a:cs typeface="Pretendard Medium"/>
              </a:defRPr>
            </a:lvl3pPr>
          </a:lstStyle>
          <a:p>
            <a:pPr indent="0" marL="0">
              <a:buNone/>
            </a:pPr>
            <a:r>
              <a:rPr lang="en-US" sz="1600" dirty="0">
                <a:solidFill>
                  <a:srgbClr val="000000"/>
                </a:solidFill>
                <a:latin typeface="Pretendard Medium" pitchFamily="34" charset="0"/>
                <a:ea typeface="Pretendard Medium" pitchFamily="34" charset="-122"/>
                <a:cs typeface="Pretendard Medium" pitchFamily="34" charset="-120"/>
              </a:rPr>
              <a:t>본문 (Tab: 2단계 불릿)</a:t>
            </a:r>
            <a:endParaRPr lang="en-US" sz="1600" dirty="0"/>
          </a:p>
        </p:txBody>
      </p:sp>
      <p:sp>
        <p:nvSpPr>
          <p:cNvPr id="5" name="Text 0"/>
          <p:cNvSpPr/>
          <p:nvPr>
            <p:ph idx="103" type="pic" hasCustomPrompt="1"/>
          </p:nvPr>
        </p:nvSpPr>
        <p:spPr>
          <a:xfrm>
            <a:off x="4937760" y="1417320"/>
            <a:ext cx="6565392" cy="4160520"/>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그림</a:t>
            </a:r>
            <a:endParaRPr lang="en-US" dirty="0"/>
          </a:p>
        </p:txBody>
      </p:sp>
      <p:sp>
        <p:nvSpPr>
          <p:cNvPr id="6" name="Text 0"/>
          <p:cNvSpPr/>
          <p:nvPr>
            <p:ph idx="104" type="body" hasCustomPrompt="1"/>
          </p:nvPr>
        </p:nvSpPr>
        <p:spPr>
          <a:xfrm>
            <a:off x="4937760" y="5715000"/>
            <a:ext cx="6565392" cy="320040"/>
          </a:xfrm>
          <a:prstGeom prst="rect">
            <a:avLst/>
          </a:prstGeom>
          <a:noFill/>
          <a:ln/>
        </p:spPr>
        <p:txBody>
          <a:bodyPr wrap="square" lIns="0" tIns="0" rIns="0" bIns="0" rtlCol="0" anchor="t">
            <a:noAutofit/>
          </a:bodyPr>
          <a:lstStyle>
            <a:lvl1pPr algn="l" indent="0" marL="0">
              <a:buNone/>
              <a:defRPr lang="en-US" sz="1200" dirty="0">
                <a:solidFill>
                  <a:srgbClr val="5E5E5E"/>
                </a:solidFill>
                <a:latin typeface="Pretendard Medium" pitchFamily="34" charset="0"/>
                <a:ea typeface="Pretendard Medium" pitchFamily="34" charset="-122"/>
                <a:cs typeface="Pretendard Medium" pitchFamily="34" charset="-120"/>
              </a:defRPr>
            </a:lvl1pPr>
          </a:lstStyle>
          <a:p>
            <a:pPr indent="0" marL="0">
              <a:buNone/>
            </a:pPr>
            <a:r>
              <a:rPr lang="en-US" sz="1200" dirty="0">
                <a:solidFill>
                  <a:srgbClr val="5E5E5E"/>
                </a:solidFill>
                <a:latin typeface="Pretendard Medium" pitchFamily="34" charset="0"/>
                <a:ea typeface="Pretendard Medium" pitchFamily="34" charset="-122"/>
                <a:cs typeface="Pretendard Medium" pitchFamily="34" charset="-120"/>
              </a:rPr>
              <a:t>그림 1. 캡션</a:t>
            </a:r>
            <a:endParaRPr lang="en-US" sz="1200" dirty="0"/>
          </a:p>
        </p:txBody>
      </p:sp>
      <p:sp>
        <p:nvSpPr>
          <p:cNvPr id="7" name="Text 0"/>
          <p:cNvSpPr/>
          <p:nvPr/>
        </p:nvSpPr>
        <p:spPr>
          <a:xfrm>
            <a:off x="685800" y="6355080"/>
            <a:ext cx="5486400" cy="274320"/>
          </a:xfrm>
          <a:prstGeom prst="rect">
            <a:avLst/>
          </a:prstGeom>
          <a:noFill/>
          <a:ln/>
        </p:spPr>
        <p:txBody>
          <a:bodyPr wrap="square" lIns="0" tIns="0" rIns="0" bIns="0" rtlCol="0" anchor="ctr"/>
          <a:lstStyle/>
          <a:p>
            <a:pPr indent="0" marL="0">
              <a:buNone/>
            </a:pPr>
            <a:r>
              <a:rPr lang="en-US" sz="1000" dirty="0">
                <a:solidFill>
                  <a:srgbClr val="AFAFAF"/>
                </a:solidFill>
                <a:latin typeface="Pretendard Medium" pitchFamily="34" charset="0"/>
                <a:ea typeface="Pretendard Medium" pitchFamily="34" charset="-122"/>
                <a:cs typeface="Pretendard Medium" pitchFamily="34" charset="-120"/>
              </a:rPr>
              <a:t>AI 모빌리티 · 2026 가을학기</a:t>
            </a:r>
            <a:endParaRPr lang="en-US" sz="1000" dirty="0"/>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그림">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502920"/>
            <a:ext cx="8595360" cy="685800"/>
          </a:xfrm>
          <a:prstGeom prst="rect">
            <a:avLst/>
          </a:prstGeom>
          <a:noFill/>
          <a:ln/>
        </p:spPr>
        <p:txBody>
          <a:bodyPr wrap="square" lIns="0" tIns="0" rIns="0" bIns="0" rtlCol="0" anchor="ctr">
            <a:noAutofit/>
          </a:bodyPr>
          <a:lstStyle>
            <a:lvl1pPr algn="l" indent="0" marL="0">
              <a:buNone/>
              <a:defRPr lang="en-US" sz="2800" b="1" dirty="0">
                <a:solidFill>
                  <a:srgbClr val="000000"/>
                </a:solidFill>
                <a:latin typeface="Pretendard" pitchFamily="34" charset="0"/>
                <a:ea typeface="Pretendard" pitchFamily="34" charset="-122"/>
                <a:cs typeface="Pretendard" pitchFamily="34" charset="-120"/>
              </a:defRPr>
            </a:lvl1pPr>
          </a:lstStyle>
          <a:p>
            <a:pPr indent="0" marL="0">
              <a:buNone/>
            </a:pPr>
            <a:r>
              <a:rPr lang="en-US" sz="2800" b="1" dirty="0">
                <a:solidFill>
                  <a:srgbClr val="000000"/>
                </a:solidFill>
                <a:latin typeface="Pretendard" pitchFamily="34" charset="0"/>
                <a:ea typeface="Pretendard" pitchFamily="34" charset="-122"/>
                <a:cs typeface="Pretendard" pitchFamily="34" charset="-120"/>
              </a:rPr>
              <a:t>1.1 슬라이드 제목</a:t>
            </a:r>
            <a:endParaRPr lang="en-US" sz="2800" dirty="0"/>
          </a:p>
        </p:txBody>
      </p:sp>
      <p:sp>
        <p:nvSpPr>
          <p:cNvPr id="3" name="Text 0"/>
          <p:cNvSpPr/>
          <p:nvPr>
            <p:ph idx="101" type="body" hasCustomPrompt="1"/>
          </p:nvPr>
        </p:nvSpPr>
        <p:spPr>
          <a:xfrm>
            <a:off x="9677095" y="667512"/>
            <a:ext cx="1828800" cy="365760"/>
          </a:xfrm>
          <a:prstGeom prst="roundRect">
            <a:avLst>
              <a:gd name="adj" fmla="val 50000"/>
            </a:avLst>
          </a:prstGeom>
          <a:solidFill>
            <a:srgbClr val="EFEFEF"/>
          </a:solidFill>
          <a:ln/>
        </p:spPr>
        <p:txBody>
          <a:bodyPr wrap="square" lIns="0" tIns="0" rIns="0" bIns="0" rtlCol="0" anchor="ctr">
            <a:noAutofit/>
          </a:bodyPr>
          <a:lstStyle>
            <a:lvl1pPr algn="ctr" indent="0" marL="0">
              <a:buNone/>
              <a:defRPr lang="en-US" sz="1100" dirty="0">
                <a:solidFill>
                  <a:srgbClr val="000000"/>
                </a:solidFill>
                <a:latin typeface="Pretendard Medium" pitchFamily="34" charset="0"/>
                <a:ea typeface="Pretendard Medium" pitchFamily="34" charset="-122"/>
                <a:cs typeface="Pretendard Medium" pitchFamily="34" charset="-120"/>
              </a:defRPr>
            </a:lvl1pPr>
          </a:lstStyle>
          <a:p>
            <a:pPr algn="ctr" indent="0" marL="0">
              <a:buNone/>
            </a:pPr>
            <a:r>
              <a:rPr lang="en-US" sz="1100" dirty="0">
                <a:solidFill>
                  <a:srgbClr val="000000"/>
                </a:solidFill>
                <a:latin typeface="Pretendard Medium" pitchFamily="34" charset="0"/>
                <a:ea typeface="Pretendard Medium" pitchFamily="34" charset="-122"/>
                <a:cs typeface="Pretendard Medium" pitchFamily="34" charset="-120"/>
              </a:rPr>
              <a:t>1. 섹션</a:t>
            </a:r>
            <a:endParaRPr lang="en-US" sz="1100" dirty="0"/>
          </a:p>
        </p:txBody>
      </p:sp>
      <p:sp>
        <p:nvSpPr>
          <p:cNvPr id="4" name="Text 0"/>
          <p:cNvSpPr/>
          <p:nvPr>
            <p:ph idx="102" type="pic" hasCustomPrompt="1"/>
          </p:nvPr>
        </p:nvSpPr>
        <p:spPr>
          <a:xfrm>
            <a:off x="685800" y="1417320"/>
            <a:ext cx="10820095" cy="4297680"/>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그림</a:t>
            </a:r>
            <a:endParaRPr lang="en-US" dirty="0"/>
          </a:p>
        </p:txBody>
      </p:sp>
      <p:sp>
        <p:nvSpPr>
          <p:cNvPr id="5" name="Text 0"/>
          <p:cNvSpPr/>
          <p:nvPr>
            <p:ph idx="103" type="body" hasCustomPrompt="1"/>
          </p:nvPr>
        </p:nvSpPr>
        <p:spPr>
          <a:xfrm>
            <a:off x="685800" y="5852160"/>
            <a:ext cx="10820095" cy="320040"/>
          </a:xfrm>
          <a:prstGeom prst="rect">
            <a:avLst/>
          </a:prstGeom>
          <a:noFill/>
          <a:ln/>
        </p:spPr>
        <p:txBody>
          <a:bodyPr wrap="square" lIns="0" tIns="0" rIns="0" bIns="0" rtlCol="0" anchor="t">
            <a:noAutofit/>
          </a:bodyPr>
          <a:lstStyle>
            <a:lvl1pPr algn="l" indent="0" marL="0">
              <a:buNone/>
              <a:defRPr lang="en-US" sz="1200" dirty="0">
                <a:solidFill>
                  <a:srgbClr val="5E5E5E"/>
                </a:solidFill>
                <a:latin typeface="Pretendard Medium" pitchFamily="34" charset="0"/>
                <a:ea typeface="Pretendard Medium" pitchFamily="34" charset="-122"/>
                <a:cs typeface="Pretendard Medium" pitchFamily="34" charset="-120"/>
              </a:defRPr>
            </a:lvl1pPr>
          </a:lstStyle>
          <a:p>
            <a:pPr indent="0" marL="0">
              <a:buNone/>
            </a:pPr>
            <a:r>
              <a:rPr lang="en-US" sz="1200" dirty="0">
                <a:solidFill>
                  <a:srgbClr val="5E5E5E"/>
                </a:solidFill>
                <a:latin typeface="Pretendard Medium" pitchFamily="34" charset="0"/>
                <a:ea typeface="Pretendard Medium" pitchFamily="34" charset="-122"/>
                <a:cs typeface="Pretendard Medium" pitchFamily="34" charset="-120"/>
              </a:rPr>
              <a:t>그림 1. 캡션</a:t>
            </a:r>
            <a:endParaRPr lang="en-US" sz="1200" dirty="0"/>
          </a:p>
        </p:txBody>
      </p:sp>
      <p:sp>
        <p:nvSpPr>
          <p:cNvPr id="6" name="Text 0"/>
          <p:cNvSpPr/>
          <p:nvPr/>
        </p:nvSpPr>
        <p:spPr>
          <a:xfrm>
            <a:off x="685800" y="6355080"/>
            <a:ext cx="5486400" cy="274320"/>
          </a:xfrm>
          <a:prstGeom prst="rect">
            <a:avLst/>
          </a:prstGeom>
          <a:noFill/>
          <a:ln/>
        </p:spPr>
        <p:txBody>
          <a:bodyPr wrap="square" lIns="0" tIns="0" rIns="0" bIns="0" rtlCol="0" anchor="ctr"/>
          <a:lstStyle/>
          <a:p>
            <a:pPr indent="0" marL="0">
              <a:buNone/>
            </a:pPr>
            <a:r>
              <a:rPr lang="en-US" sz="1000" dirty="0">
                <a:solidFill>
                  <a:srgbClr val="AFAFAF"/>
                </a:solidFill>
                <a:latin typeface="Pretendard Medium" pitchFamily="34" charset="0"/>
                <a:ea typeface="Pretendard Medium" pitchFamily="34" charset="-122"/>
                <a:cs typeface="Pretendard Medium" pitchFamily="34" charset="-120"/>
              </a:rPr>
              <a:t>AI 모빌리티 · 2026 가을학기</a:t>
            </a:r>
            <a:endParaRPr lang="en-US" sz="1000" dirty="0"/>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표">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502920"/>
            <a:ext cx="8595360" cy="685800"/>
          </a:xfrm>
          <a:prstGeom prst="rect">
            <a:avLst/>
          </a:prstGeom>
          <a:noFill/>
          <a:ln/>
        </p:spPr>
        <p:txBody>
          <a:bodyPr wrap="square" lIns="0" tIns="0" rIns="0" bIns="0" rtlCol="0" anchor="ctr">
            <a:noAutofit/>
          </a:bodyPr>
          <a:lstStyle>
            <a:lvl1pPr algn="l" indent="0" marL="0">
              <a:buNone/>
              <a:defRPr lang="en-US" sz="2800" b="1" dirty="0">
                <a:solidFill>
                  <a:srgbClr val="000000"/>
                </a:solidFill>
                <a:latin typeface="Pretendard" pitchFamily="34" charset="0"/>
                <a:ea typeface="Pretendard" pitchFamily="34" charset="-122"/>
                <a:cs typeface="Pretendard" pitchFamily="34" charset="-120"/>
              </a:defRPr>
            </a:lvl1pPr>
          </a:lstStyle>
          <a:p>
            <a:pPr indent="0" marL="0">
              <a:buNone/>
            </a:pPr>
            <a:r>
              <a:rPr lang="en-US" sz="2800" b="1" dirty="0">
                <a:solidFill>
                  <a:srgbClr val="000000"/>
                </a:solidFill>
                <a:latin typeface="Pretendard" pitchFamily="34" charset="0"/>
                <a:ea typeface="Pretendard" pitchFamily="34" charset="-122"/>
                <a:cs typeface="Pretendard" pitchFamily="34" charset="-120"/>
              </a:rPr>
              <a:t>1.1 슬라이드 제목</a:t>
            </a:r>
            <a:endParaRPr lang="en-US" sz="2800" dirty="0"/>
          </a:p>
        </p:txBody>
      </p:sp>
      <p:sp>
        <p:nvSpPr>
          <p:cNvPr id="3" name="Text 0"/>
          <p:cNvSpPr/>
          <p:nvPr>
            <p:ph idx="101" type="body" hasCustomPrompt="1"/>
          </p:nvPr>
        </p:nvSpPr>
        <p:spPr>
          <a:xfrm>
            <a:off x="9677095" y="667512"/>
            <a:ext cx="1828800" cy="365760"/>
          </a:xfrm>
          <a:prstGeom prst="roundRect">
            <a:avLst>
              <a:gd name="adj" fmla="val 50000"/>
            </a:avLst>
          </a:prstGeom>
          <a:solidFill>
            <a:srgbClr val="EFEFEF"/>
          </a:solidFill>
          <a:ln/>
        </p:spPr>
        <p:txBody>
          <a:bodyPr wrap="square" lIns="0" tIns="0" rIns="0" bIns="0" rtlCol="0" anchor="ctr">
            <a:noAutofit/>
          </a:bodyPr>
          <a:lstStyle>
            <a:lvl1pPr algn="ctr" indent="0" marL="0">
              <a:buNone/>
              <a:defRPr lang="en-US" sz="1100" dirty="0">
                <a:solidFill>
                  <a:srgbClr val="000000"/>
                </a:solidFill>
                <a:latin typeface="Pretendard Medium" pitchFamily="34" charset="0"/>
                <a:ea typeface="Pretendard Medium" pitchFamily="34" charset="-122"/>
                <a:cs typeface="Pretendard Medium" pitchFamily="34" charset="-120"/>
              </a:defRPr>
            </a:lvl1pPr>
          </a:lstStyle>
          <a:p>
            <a:pPr algn="ctr" indent="0" marL="0">
              <a:buNone/>
            </a:pPr>
            <a:r>
              <a:rPr lang="en-US" sz="1100" dirty="0">
                <a:solidFill>
                  <a:srgbClr val="000000"/>
                </a:solidFill>
                <a:latin typeface="Pretendard Medium" pitchFamily="34" charset="0"/>
                <a:ea typeface="Pretendard Medium" pitchFamily="34" charset="-122"/>
                <a:cs typeface="Pretendard Medium" pitchFamily="34" charset="-120"/>
              </a:rPr>
              <a:t>1. 섹션</a:t>
            </a:r>
            <a:endParaRPr lang="en-US" sz="1100" dirty="0"/>
          </a:p>
        </p:txBody>
      </p:sp>
      <p:sp>
        <p:nvSpPr>
          <p:cNvPr id="4" name="Text 0"/>
          <p:cNvSpPr/>
          <p:nvPr>
            <p:ph idx="102" type="body" hasCustomPrompt="1"/>
          </p:nvPr>
        </p:nvSpPr>
        <p:spPr>
          <a:xfrm>
            <a:off x="685800" y="1417320"/>
            <a:ext cx="10820095" cy="320040"/>
          </a:xfrm>
          <a:prstGeom prst="rect">
            <a:avLst/>
          </a:prstGeom>
          <a:noFill/>
          <a:ln/>
        </p:spPr>
        <p:txBody>
          <a:bodyPr wrap="square" lIns="0" tIns="0" rIns="0" bIns="0" rtlCol="0" anchor="t">
            <a:noAutofit/>
          </a:bodyPr>
          <a:lstStyle>
            <a:lvl1pPr algn="l" indent="0" marL="0">
              <a:buNone/>
              <a:defRPr lang="en-US" sz="1200" dirty="0">
                <a:solidFill>
                  <a:srgbClr val="5E5E5E"/>
                </a:solidFill>
                <a:latin typeface="Pretendard Medium" pitchFamily="34" charset="0"/>
                <a:ea typeface="Pretendard Medium" pitchFamily="34" charset="-122"/>
                <a:cs typeface="Pretendard Medium" pitchFamily="34" charset="-120"/>
              </a:defRPr>
            </a:lvl1pPr>
          </a:lstStyle>
          <a:p>
            <a:pPr indent="0" marL="0">
              <a:buNone/>
            </a:pPr>
            <a:r>
              <a:rPr lang="en-US" sz="1200" dirty="0">
                <a:solidFill>
                  <a:srgbClr val="5E5E5E"/>
                </a:solidFill>
                <a:latin typeface="Pretendard Medium" pitchFamily="34" charset="0"/>
                <a:ea typeface="Pretendard Medium" pitchFamily="34" charset="-122"/>
                <a:cs typeface="Pretendard Medium" pitchFamily="34" charset="-120"/>
              </a:rPr>
              <a:t>표 1. 캡션</a:t>
            </a:r>
            <a:endParaRPr lang="en-US" sz="1200" dirty="0"/>
          </a:p>
        </p:txBody>
      </p:sp>
      <p:sp>
        <p:nvSpPr>
          <p:cNvPr id="5" name="Text 0"/>
          <p:cNvSpPr/>
          <p:nvPr>
            <p:ph idx="103" type="tbl" hasCustomPrompt="1"/>
          </p:nvPr>
        </p:nvSpPr>
        <p:spPr>
          <a:xfrm>
            <a:off x="685800" y="1828800"/>
            <a:ext cx="10820095" cy="4251960"/>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표</a:t>
            </a:r>
            <a:endParaRPr lang="en-US" dirty="0"/>
          </a:p>
        </p:txBody>
      </p:sp>
      <p:sp>
        <p:nvSpPr>
          <p:cNvPr id="6" name="Text 0"/>
          <p:cNvSpPr/>
          <p:nvPr/>
        </p:nvSpPr>
        <p:spPr>
          <a:xfrm>
            <a:off x="685800" y="6355080"/>
            <a:ext cx="5486400" cy="274320"/>
          </a:xfrm>
          <a:prstGeom prst="rect">
            <a:avLst/>
          </a:prstGeom>
          <a:noFill/>
          <a:ln/>
        </p:spPr>
        <p:txBody>
          <a:bodyPr wrap="square" lIns="0" tIns="0" rIns="0" bIns="0" rtlCol="0" anchor="ctr"/>
          <a:lstStyle/>
          <a:p>
            <a:pPr indent="0" marL="0">
              <a:buNone/>
            </a:pPr>
            <a:r>
              <a:rPr lang="en-US" sz="1000" dirty="0">
                <a:solidFill>
                  <a:srgbClr val="AFAFAF"/>
                </a:solidFill>
                <a:latin typeface="Pretendard Medium" pitchFamily="34" charset="0"/>
                <a:ea typeface="Pretendard Medium" pitchFamily="34" charset="-122"/>
                <a:cs typeface="Pretendard Medium" pitchFamily="34" charset="-120"/>
              </a:rPr>
              <a:t>AI 모빌리티 · 2026 가을학기</a:t>
            </a:r>
            <a:endParaRPr lang="en-US" sz="1000" dirty="0"/>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본문+표">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502920"/>
            <a:ext cx="8595360" cy="685800"/>
          </a:xfrm>
          <a:prstGeom prst="rect">
            <a:avLst/>
          </a:prstGeom>
          <a:noFill/>
          <a:ln/>
        </p:spPr>
        <p:txBody>
          <a:bodyPr wrap="square" lIns="0" tIns="0" rIns="0" bIns="0" rtlCol="0" anchor="ctr">
            <a:noAutofit/>
          </a:bodyPr>
          <a:lstStyle>
            <a:lvl1pPr algn="l" indent="0" marL="0">
              <a:buNone/>
              <a:defRPr lang="en-US" sz="2800" b="1" dirty="0">
                <a:solidFill>
                  <a:srgbClr val="000000"/>
                </a:solidFill>
                <a:latin typeface="Pretendard" pitchFamily="34" charset="0"/>
                <a:ea typeface="Pretendard" pitchFamily="34" charset="-122"/>
                <a:cs typeface="Pretendard" pitchFamily="34" charset="-120"/>
              </a:defRPr>
            </a:lvl1pPr>
          </a:lstStyle>
          <a:p>
            <a:pPr indent="0" marL="0">
              <a:buNone/>
            </a:pPr>
            <a:r>
              <a:rPr lang="en-US" sz="2800" b="1" dirty="0">
                <a:solidFill>
                  <a:srgbClr val="000000"/>
                </a:solidFill>
                <a:latin typeface="Pretendard" pitchFamily="34" charset="0"/>
                <a:ea typeface="Pretendard" pitchFamily="34" charset="-122"/>
                <a:cs typeface="Pretendard" pitchFamily="34" charset="-120"/>
              </a:rPr>
              <a:t>1.1 슬라이드 제목</a:t>
            </a:r>
            <a:endParaRPr lang="en-US" sz="2800" dirty="0"/>
          </a:p>
        </p:txBody>
      </p:sp>
      <p:sp>
        <p:nvSpPr>
          <p:cNvPr id="3" name="Text 0"/>
          <p:cNvSpPr/>
          <p:nvPr>
            <p:ph idx="101" type="body" hasCustomPrompt="1"/>
          </p:nvPr>
        </p:nvSpPr>
        <p:spPr>
          <a:xfrm>
            <a:off x="9677095" y="667512"/>
            <a:ext cx="1828800" cy="365760"/>
          </a:xfrm>
          <a:prstGeom prst="roundRect">
            <a:avLst>
              <a:gd name="adj" fmla="val 50000"/>
            </a:avLst>
          </a:prstGeom>
          <a:solidFill>
            <a:srgbClr val="EFEFEF"/>
          </a:solidFill>
          <a:ln/>
        </p:spPr>
        <p:txBody>
          <a:bodyPr wrap="square" lIns="0" tIns="0" rIns="0" bIns="0" rtlCol="0" anchor="ctr">
            <a:noAutofit/>
          </a:bodyPr>
          <a:lstStyle>
            <a:lvl1pPr algn="ctr" indent="0" marL="0">
              <a:buNone/>
              <a:defRPr lang="en-US" sz="1100" dirty="0">
                <a:solidFill>
                  <a:srgbClr val="000000"/>
                </a:solidFill>
                <a:latin typeface="Pretendard Medium" pitchFamily="34" charset="0"/>
                <a:ea typeface="Pretendard Medium" pitchFamily="34" charset="-122"/>
                <a:cs typeface="Pretendard Medium" pitchFamily="34" charset="-120"/>
              </a:defRPr>
            </a:lvl1pPr>
          </a:lstStyle>
          <a:p>
            <a:pPr algn="ctr" indent="0" marL="0">
              <a:buNone/>
            </a:pPr>
            <a:r>
              <a:rPr lang="en-US" sz="1100" dirty="0">
                <a:solidFill>
                  <a:srgbClr val="000000"/>
                </a:solidFill>
                <a:latin typeface="Pretendard Medium" pitchFamily="34" charset="0"/>
                <a:ea typeface="Pretendard Medium" pitchFamily="34" charset="-122"/>
                <a:cs typeface="Pretendard Medium" pitchFamily="34" charset="-120"/>
              </a:rPr>
              <a:t>1. 섹션</a:t>
            </a:r>
            <a:endParaRPr lang="en-US" sz="1100" dirty="0"/>
          </a:p>
        </p:txBody>
      </p:sp>
      <p:sp>
        <p:nvSpPr>
          <p:cNvPr id="4" name="Text 0"/>
          <p:cNvSpPr/>
          <p:nvPr>
            <p:ph idx="102" type="body" hasCustomPrompt="1"/>
          </p:nvPr>
        </p:nvSpPr>
        <p:spPr>
          <a:xfrm>
            <a:off x="685800" y="1417320"/>
            <a:ext cx="3931920" cy="4663440"/>
          </a:xfrm>
          <a:prstGeom prst="rect">
            <a:avLst/>
          </a:prstGeom>
          <a:noFill/>
          <a:ln/>
        </p:spPr>
        <p:txBody>
          <a:bodyPr wrap="square" lIns="0" tIns="0" rIns="0" bIns="0" rtlCol="0" anchor="t">
            <a:noAutofit/>
          </a:bodyPr>
          <a:lstStyle>
            <a:lvl1pPr algn="l" marL="228600" indent="-228600">
              <a:lnSpc>
                <a:spcPct val="115000"/>
              </a:lnSpc>
              <a:spcAft>
                <a:spcPts val="1000"/>
              </a:spcAft>
              <a:buClr>
                <a:srgbClr val="000000"/>
              </a:buClr>
              <a:buFont typeface="Arial"/>
              <a:buChar char="•"/>
              <a:defRPr sz="1600">
                <a:solidFill>
                  <a:srgbClr val="000000"/>
                </a:solidFill>
                <a:latin typeface="Pretendard Medium"/>
                <a:ea typeface="Pretendard Medium"/>
                <a:cs typeface="Pretendard Medium"/>
              </a:defRPr>
            </a:lvl1pPr>
            <a:lvl2pPr marL="406400" indent="-203200">
              <a:lnSpc>
                <a:spcPct val="115000"/>
              </a:lnSpc>
              <a:spcAft>
                <a:spcPts val="600"/>
              </a:spcAft>
              <a:buClr>
                <a:srgbClr val="5E5E5E"/>
              </a:buClr>
              <a:buFont typeface="Arial"/>
              <a:buChar char="–"/>
              <a:defRPr sz="1400">
                <a:solidFill>
                  <a:srgbClr val="5E5E5E"/>
                </a:solidFill>
                <a:latin typeface="Pretendard Medium"/>
                <a:ea typeface="Pretendard Medium"/>
                <a:cs typeface="Pretendard Medium"/>
              </a:defRPr>
            </a:lvl2pPr>
            <a:lvl3pPr marL="609600" indent="-203200">
              <a:lnSpc>
                <a:spcPct val="115000"/>
              </a:lnSpc>
              <a:spcAft>
                <a:spcPts val="600"/>
              </a:spcAft>
              <a:buClr>
                <a:srgbClr val="5E5E5E"/>
              </a:buClr>
              <a:buFont typeface="Arial"/>
              <a:buChar char="–"/>
              <a:defRPr sz="1400">
                <a:solidFill>
                  <a:srgbClr val="5E5E5E"/>
                </a:solidFill>
                <a:latin typeface="Pretendard Medium"/>
                <a:ea typeface="Pretendard Medium"/>
                <a:cs typeface="Pretendard Medium"/>
              </a:defRPr>
            </a:lvl3pPr>
          </a:lstStyle>
          <a:p>
            <a:pPr indent="0" marL="0">
              <a:buNone/>
            </a:pPr>
            <a:r>
              <a:rPr lang="en-US" sz="1600" dirty="0">
                <a:solidFill>
                  <a:srgbClr val="000000"/>
                </a:solidFill>
                <a:latin typeface="Pretendard Medium" pitchFamily="34" charset="0"/>
                <a:ea typeface="Pretendard Medium" pitchFamily="34" charset="-122"/>
                <a:cs typeface="Pretendard Medium" pitchFamily="34" charset="-120"/>
              </a:rPr>
              <a:t>본문 (Tab: 2단계 불릿)</a:t>
            </a:r>
            <a:endParaRPr lang="en-US" sz="1600" dirty="0"/>
          </a:p>
        </p:txBody>
      </p:sp>
      <p:sp>
        <p:nvSpPr>
          <p:cNvPr id="5" name="Text 0"/>
          <p:cNvSpPr/>
          <p:nvPr>
            <p:ph idx="103" type="body" hasCustomPrompt="1"/>
          </p:nvPr>
        </p:nvSpPr>
        <p:spPr>
          <a:xfrm>
            <a:off x="4937760" y="1417320"/>
            <a:ext cx="6565392" cy="320040"/>
          </a:xfrm>
          <a:prstGeom prst="rect">
            <a:avLst/>
          </a:prstGeom>
          <a:noFill/>
          <a:ln/>
        </p:spPr>
        <p:txBody>
          <a:bodyPr wrap="square" lIns="0" tIns="0" rIns="0" bIns="0" rtlCol="0" anchor="t">
            <a:noAutofit/>
          </a:bodyPr>
          <a:lstStyle>
            <a:lvl1pPr algn="l" indent="0" marL="0">
              <a:buNone/>
              <a:defRPr lang="en-US" sz="1200" dirty="0">
                <a:solidFill>
                  <a:srgbClr val="5E5E5E"/>
                </a:solidFill>
                <a:latin typeface="Pretendard Medium" pitchFamily="34" charset="0"/>
                <a:ea typeface="Pretendard Medium" pitchFamily="34" charset="-122"/>
                <a:cs typeface="Pretendard Medium" pitchFamily="34" charset="-120"/>
              </a:defRPr>
            </a:lvl1pPr>
          </a:lstStyle>
          <a:p>
            <a:pPr indent="0" marL="0">
              <a:buNone/>
            </a:pPr>
            <a:r>
              <a:rPr lang="en-US" sz="1200" dirty="0">
                <a:solidFill>
                  <a:srgbClr val="5E5E5E"/>
                </a:solidFill>
                <a:latin typeface="Pretendard Medium" pitchFamily="34" charset="0"/>
                <a:ea typeface="Pretendard Medium" pitchFamily="34" charset="-122"/>
                <a:cs typeface="Pretendard Medium" pitchFamily="34" charset="-120"/>
              </a:rPr>
              <a:t>표 1. 캡션</a:t>
            </a:r>
            <a:endParaRPr lang="en-US" sz="1200" dirty="0"/>
          </a:p>
        </p:txBody>
      </p:sp>
      <p:sp>
        <p:nvSpPr>
          <p:cNvPr id="6" name="Text 0"/>
          <p:cNvSpPr/>
          <p:nvPr>
            <p:ph idx="104" type="tbl" hasCustomPrompt="1"/>
          </p:nvPr>
        </p:nvSpPr>
        <p:spPr>
          <a:xfrm>
            <a:off x="4937760" y="1828800"/>
            <a:ext cx="6565392" cy="4251960"/>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표</a:t>
            </a:r>
            <a:endParaRPr lang="en-US" dirty="0"/>
          </a:p>
        </p:txBody>
      </p:sp>
      <p:sp>
        <p:nvSpPr>
          <p:cNvPr id="7" name="Text 0"/>
          <p:cNvSpPr/>
          <p:nvPr/>
        </p:nvSpPr>
        <p:spPr>
          <a:xfrm>
            <a:off x="685800" y="6355080"/>
            <a:ext cx="5486400" cy="274320"/>
          </a:xfrm>
          <a:prstGeom prst="rect">
            <a:avLst/>
          </a:prstGeom>
          <a:noFill/>
          <a:ln/>
        </p:spPr>
        <p:txBody>
          <a:bodyPr wrap="square" lIns="0" tIns="0" rIns="0" bIns="0" rtlCol="0" anchor="ctr"/>
          <a:lstStyle/>
          <a:p>
            <a:pPr indent="0" marL="0">
              <a:buNone/>
            </a:pPr>
            <a:r>
              <a:rPr lang="en-US" sz="1000" dirty="0">
                <a:solidFill>
                  <a:srgbClr val="AFAFAF"/>
                </a:solidFill>
                <a:latin typeface="Pretendard Medium" pitchFamily="34" charset="0"/>
                <a:ea typeface="Pretendard Medium" pitchFamily="34" charset="-122"/>
                <a:cs typeface="Pretendard Medium" pitchFamily="34" charset="-120"/>
              </a:rPr>
              <a:t>AI 모빌리티 · 2026 가을학기</a:t>
            </a:r>
            <a:endParaRPr lang="en-US" sz="1000" dirty="0"/>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본문+코드">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502920"/>
            <a:ext cx="8595360" cy="685800"/>
          </a:xfrm>
          <a:prstGeom prst="rect">
            <a:avLst/>
          </a:prstGeom>
          <a:noFill/>
          <a:ln/>
        </p:spPr>
        <p:txBody>
          <a:bodyPr wrap="square" lIns="0" tIns="0" rIns="0" bIns="0" rtlCol="0" anchor="ctr">
            <a:noAutofit/>
          </a:bodyPr>
          <a:lstStyle>
            <a:lvl1pPr algn="l" indent="0" marL="0">
              <a:buNone/>
              <a:defRPr lang="en-US" sz="2800" b="1" dirty="0">
                <a:solidFill>
                  <a:srgbClr val="000000"/>
                </a:solidFill>
                <a:latin typeface="Pretendard" pitchFamily="34" charset="0"/>
                <a:ea typeface="Pretendard" pitchFamily="34" charset="-122"/>
                <a:cs typeface="Pretendard" pitchFamily="34" charset="-120"/>
              </a:defRPr>
            </a:lvl1pPr>
          </a:lstStyle>
          <a:p>
            <a:pPr indent="0" marL="0">
              <a:buNone/>
            </a:pPr>
            <a:r>
              <a:rPr lang="en-US" sz="2800" b="1" dirty="0">
                <a:solidFill>
                  <a:srgbClr val="000000"/>
                </a:solidFill>
                <a:latin typeface="Pretendard" pitchFamily="34" charset="0"/>
                <a:ea typeface="Pretendard" pitchFamily="34" charset="-122"/>
                <a:cs typeface="Pretendard" pitchFamily="34" charset="-120"/>
              </a:rPr>
              <a:t>1.1 슬라이드 제목</a:t>
            </a:r>
            <a:endParaRPr lang="en-US" sz="2800" dirty="0"/>
          </a:p>
        </p:txBody>
      </p:sp>
      <p:sp>
        <p:nvSpPr>
          <p:cNvPr id="3" name="Text 0"/>
          <p:cNvSpPr/>
          <p:nvPr>
            <p:ph idx="101" type="body" hasCustomPrompt="1"/>
          </p:nvPr>
        </p:nvSpPr>
        <p:spPr>
          <a:xfrm>
            <a:off x="9677095" y="667512"/>
            <a:ext cx="1828800" cy="365760"/>
          </a:xfrm>
          <a:prstGeom prst="roundRect">
            <a:avLst>
              <a:gd name="adj" fmla="val 50000"/>
            </a:avLst>
          </a:prstGeom>
          <a:solidFill>
            <a:srgbClr val="EFEFEF"/>
          </a:solidFill>
          <a:ln/>
        </p:spPr>
        <p:txBody>
          <a:bodyPr wrap="square" lIns="0" tIns="0" rIns="0" bIns="0" rtlCol="0" anchor="ctr">
            <a:noAutofit/>
          </a:bodyPr>
          <a:lstStyle>
            <a:lvl1pPr algn="ctr" indent="0" marL="0">
              <a:buNone/>
              <a:defRPr lang="en-US" sz="1100" dirty="0">
                <a:solidFill>
                  <a:srgbClr val="000000"/>
                </a:solidFill>
                <a:latin typeface="Pretendard Medium" pitchFamily="34" charset="0"/>
                <a:ea typeface="Pretendard Medium" pitchFamily="34" charset="-122"/>
                <a:cs typeface="Pretendard Medium" pitchFamily="34" charset="-120"/>
              </a:defRPr>
            </a:lvl1pPr>
          </a:lstStyle>
          <a:p>
            <a:pPr algn="ctr" indent="0" marL="0">
              <a:buNone/>
            </a:pPr>
            <a:r>
              <a:rPr lang="en-US" sz="1100" dirty="0">
                <a:solidFill>
                  <a:srgbClr val="000000"/>
                </a:solidFill>
                <a:latin typeface="Pretendard Medium" pitchFamily="34" charset="0"/>
                <a:ea typeface="Pretendard Medium" pitchFamily="34" charset="-122"/>
                <a:cs typeface="Pretendard Medium" pitchFamily="34" charset="-120"/>
              </a:rPr>
              <a:t>1. 섹션</a:t>
            </a:r>
            <a:endParaRPr lang="en-US" sz="1100" dirty="0"/>
          </a:p>
        </p:txBody>
      </p:sp>
      <p:sp>
        <p:nvSpPr>
          <p:cNvPr id="4" name="Text 0"/>
          <p:cNvSpPr/>
          <p:nvPr>
            <p:ph idx="102" type="body" hasCustomPrompt="1"/>
          </p:nvPr>
        </p:nvSpPr>
        <p:spPr>
          <a:xfrm>
            <a:off x="685800" y="1417320"/>
            <a:ext cx="3931920" cy="4663440"/>
          </a:xfrm>
          <a:prstGeom prst="rect">
            <a:avLst/>
          </a:prstGeom>
          <a:noFill/>
          <a:ln/>
        </p:spPr>
        <p:txBody>
          <a:bodyPr wrap="square" lIns="0" tIns="0" rIns="0" bIns="0" rtlCol="0" anchor="t">
            <a:noAutofit/>
          </a:bodyPr>
          <a:lstStyle>
            <a:lvl1pPr algn="l" marL="228600" indent="-228600">
              <a:lnSpc>
                <a:spcPct val="115000"/>
              </a:lnSpc>
              <a:spcAft>
                <a:spcPts val="1000"/>
              </a:spcAft>
              <a:buClr>
                <a:srgbClr val="000000"/>
              </a:buClr>
              <a:buFont typeface="Arial"/>
              <a:buChar char="•"/>
              <a:defRPr sz="1600">
                <a:solidFill>
                  <a:srgbClr val="000000"/>
                </a:solidFill>
                <a:latin typeface="Pretendard Medium"/>
                <a:ea typeface="Pretendard Medium"/>
                <a:cs typeface="Pretendard Medium"/>
              </a:defRPr>
            </a:lvl1pPr>
            <a:lvl2pPr marL="406400" indent="-203200">
              <a:lnSpc>
                <a:spcPct val="115000"/>
              </a:lnSpc>
              <a:spcAft>
                <a:spcPts val="600"/>
              </a:spcAft>
              <a:buClr>
                <a:srgbClr val="5E5E5E"/>
              </a:buClr>
              <a:buFont typeface="Arial"/>
              <a:buChar char="–"/>
              <a:defRPr sz="1400">
                <a:solidFill>
                  <a:srgbClr val="5E5E5E"/>
                </a:solidFill>
                <a:latin typeface="Pretendard Medium"/>
                <a:ea typeface="Pretendard Medium"/>
                <a:cs typeface="Pretendard Medium"/>
              </a:defRPr>
            </a:lvl2pPr>
            <a:lvl3pPr marL="609600" indent="-203200">
              <a:lnSpc>
                <a:spcPct val="115000"/>
              </a:lnSpc>
              <a:spcAft>
                <a:spcPts val="600"/>
              </a:spcAft>
              <a:buClr>
                <a:srgbClr val="5E5E5E"/>
              </a:buClr>
              <a:buFont typeface="Arial"/>
              <a:buChar char="–"/>
              <a:defRPr sz="1400">
                <a:solidFill>
                  <a:srgbClr val="5E5E5E"/>
                </a:solidFill>
                <a:latin typeface="Pretendard Medium"/>
                <a:ea typeface="Pretendard Medium"/>
                <a:cs typeface="Pretendard Medium"/>
              </a:defRPr>
            </a:lvl3pPr>
          </a:lstStyle>
          <a:p>
            <a:pPr indent="0" marL="0">
              <a:buNone/>
            </a:pPr>
            <a:r>
              <a:rPr lang="en-US" sz="1600" dirty="0">
                <a:solidFill>
                  <a:srgbClr val="000000"/>
                </a:solidFill>
                <a:latin typeface="Pretendard Medium" pitchFamily="34" charset="0"/>
                <a:ea typeface="Pretendard Medium" pitchFamily="34" charset="-122"/>
                <a:cs typeface="Pretendard Medium" pitchFamily="34" charset="-120"/>
              </a:rPr>
              <a:t>본문 (Tab: 2단계 불릿)</a:t>
            </a:r>
            <a:endParaRPr lang="en-US" sz="1600" dirty="0"/>
          </a:p>
        </p:txBody>
      </p:sp>
      <p:sp>
        <p:nvSpPr>
          <p:cNvPr id="5" name="Text 0"/>
          <p:cNvSpPr/>
          <p:nvPr>
            <p:ph idx="103" type="body" hasCustomPrompt="1"/>
          </p:nvPr>
        </p:nvSpPr>
        <p:spPr>
          <a:xfrm>
            <a:off x="4937760" y="1417320"/>
            <a:ext cx="6565392" cy="4663440"/>
          </a:xfrm>
          <a:prstGeom prst="roundRect">
            <a:avLst>
              <a:gd name="adj" fmla="val 3268"/>
            </a:avLst>
          </a:prstGeom>
          <a:solidFill>
            <a:srgbClr val="EFEFEF"/>
          </a:solidFill>
          <a:ln/>
        </p:spPr>
        <p:txBody>
          <a:bodyPr wrap="square" lIns="228600" tIns="384048" rIns="228600" bIns="137160" rtlCol="0" anchor="t">
            <a:noAutofit/>
          </a:bodyPr>
          <a:lstStyle>
            <a:lvl1pPr algn="l" marL="0" indent="0">
              <a:lnSpc>
                <a:spcPct val="100000"/>
              </a:lnSpc>
              <a:spcAft>
                <a:spcPts val="0"/>
              </a:spcAft>
              <a:buNone/>
              <a:defRPr sz="1100">
                <a:solidFill>
                  <a:srgbClr val="000000"/>
                </a:solidFill>
                <a:latin typeface="Consolas"/>
                <a:ea typeface="Consolas"/>
                <a:cs typeface="Consolas"/>
              </a:defRPr>
            </a:lvl1pPr>
          </a:lstStyle>
          <a:p>
            <a:pPr indent="0" marL="0">
              <a:buNone/>
            </a:pPr>
            <a:r>
              <a:rPr lang="en-US" sz="1100" dirty="0">
                <a:solidFill>
                  <a:srgbClr val="000000"/>
                </a:solidFill>
                <a:latin typeface="Consolas" pitchFamily="34" charset="0"/>
                <a:ea typeface="Consolas" pitchFamily="34" charset="-122"/>
                <a:cs typeface="Consolas" pitchFamily="34" charset="-120"/>
              </a:rPr>
              <a:t>Python 코드</a:t>
            </a:r>
            <a:endParaRPr lang="en-US" sz="1100" dirty="0"/>
          </a:p>
        </p:txBody>
      </p:sp>
      <p:sp>
        <p:nvSpPr>
          <p:cNvPr id="6" name="Text 0"/>
          <p:cNvSpPr/>
          <p:nvPr/>
        </p:nvSpPr>
        <p:spPr>
          <a:xfrm>
            <a:off x="5166360" y="1527048"/>
            <a:ext cx="1828800" cy="228600"/>
          </a:xfrm>
          <a:prstGeom prst="rect">
            <a:avLst/>
          </a:prstGeom>
          <a:noFill/>
          <a:ln/>
        </p:spPr>
        <p:txBody>
          <a:bodyPr wrap="square" lIns="0" tIns="0" rIns="0" bIns="0" rtlCol="0" anchor="ctr"/>
          <a:lstStyle/>
          <a:p>
            <a:pPr indent="0" marL="0">
              <a:buNone/>
            </a:pPr>
            <a:r>
              <a:rPr lang="en-US" sz="900" dirty="0">
                <a:solidFill>
                  <a:srgbClr val="AFAFAF"/>
                </a:solidFill>
                <a:latin typeface="Consolas" pitchFamily="34" charset="0"/>
                <a:ea typeface="Consolas" pitchFamily="34" charset="-122"/>
                <a:cs typeface="Consolas" pitchFamily="34" charset="-120"/>
              </a:rPr>
              <a:t>In [ ]</a:t>
            </a:r>
            <a:endParaRPr lang="en-US" sz="900" dirty="0"/>
          </a:p>
        </p:txBody>
      </p:sp>
      <p:sp>
        <p:nvSpPr>
          <p:cNvPr id="7" name="Text 1"/>
          <p:cNvSpPr/>
          <p:nvPr/>
        </p:nvSpPr>
        <p:spPr>
          <a:xfrm>
            <a:off x="685800" y="6355080"/>
            <a:ext cx="5486400" cy="274320"/>
          </a:xfrm>
          <a:prstGeom prst="rect">
            <a:avLst/>
          </a:prstGeom>
          <a:noFill/>
          <a:ln/>
        </p:spPr>
        <p:txBody>
          <a:bodyPr wrap="square" lIns="0" tIns="0" rIns="0" bIns="0" rtlCol="0" anchor="ctr"/>
          <a:lstStyle/>
          <a:p>
            <a:pPr indent="0" marL="0">
              <a:buNone/>
            </a:pPr>
            <a:r>
              <a:rPr lang="en-US" sz="1000" dirty="0">
                <a:solidFill>
                  <a:srgbClr val="AFAFAF"/>
                </a:solidFill>
                <a:latin typeface="Pretendard Medium" pitchFamily="34" charset="0"/>
                <a:ea typeface="Pretendard Medium" pitchFamily="34" charset="-122"/>
                <a:cs typeface="Pretendard Medium" pitchFamily="34" charset="-120"/>
              </a:rPr>
              <a:t>AI 모빌리티 · 2026 가을학기</a:t>
            </a:r>
            <a:endParaRPr lang="en-US" sz="1000" dirty="0"/>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마무리">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2194560"/>
            <a:ext cx="10058400" cy="1005840"/>
          </a:xfrm>
          <a:prstGeom prst="rect">
            <a:avLst/>
          </a:prstGeom>
          <a:noFill/>
          <a:ln/>
        </p:spPr>
        <p:txBody>
          <a:bodyPr wrap="square" lIns="0" tIns="0" rIns="0" bIns="0" rtlCol="0" anchor="ctr">
            <a:noAutofit/>
          </a:bodyPr>
          <a:lstStyle>
            <a:lvl1pPr algn="l" indent="0" marL="0">
              <a:buNone/>
              <a:defRPr lang="en-US" sz="5200" dirty="0">
                <a:solidFill>
                  <a:srgbClr val="000000"/>
                </a:solidFill>
                <a:latin typeface="Pretendard ExtraBold" pitchFamily="34" charset="0"/>
                <a:ea typeface="Pretendard ExtraBold" pitchFamily="34" charset="-122"/>
                <a:cs typeface="Pretendard ExtraBold" pitchFamily="34" charset="-120"/>
              </a:defRPr>
            </a:lvl1pPr>
          </a:lstStyle>
          <a:p>
            <a:pPr indent="0" marL="0">
              <a:buNone/>
            </a:pPr>
            <a:r>
              <a:rPr lang="en-US" sz="5200" dirty="0">
                <a:solidFill>
                  <a:srgbClr val="000000"/>
                </a:solidFill>
                <a:latin typeface="Pretendard ExtraBold" pitchFamily="34" charset="0"/>
                <a:ea typeface="Pretendard ExtraBold" pitchFamily="34" charset="-122"/>
                <a:cs typeface="Pretendard ExtraBold" pitchFamily="34" charset="-120"/>
              </a:rPr>
              <a:t>감사합니다</a:t>
            </a:r>
            <a:endParaRPr lang="en-US" sz="5200" dirty="0"/>
          </a:p>
        </p:txBody>
      </p:sp>
      <p:sp>
        <p:nvSpPr>
          <p:cNvPr id="3" name="Text 0"/>
          <p:cNvSpPr/>
          <p:nvPr>
            <p:ph idx="101" type="body" hasCustomPrompt="1"/>
          </p:nvPr>
        </p:nvSpPr>
        <p:spPr>
          <a:xfrm>
            <a:off x="685800" y="3246120"/>
            <a:ext cx="10058400" cy="548640"/>
          </a:xfrm>
          <a:prstGeom prst="rect">
            <a:avLst/>
          </a:prstGeom>
          <a:noFill/>
          <a:ln/>
        </p:spPr>
        <p:txBody>
          <a:bodyPr wrap="square" lIns="0" tIns="0" rIns="0" bIns="0" rtlCol="0" anchor="t">
            <a:noAutofit/>
          </a:bodyPr>
          <a:lstStyle>
            <a:lvl1pPr algn="l" indent="0" marL="0">
              <a:buNone/>
              <a:defRPr lang="en-US" sz="2200" dirty="0">
                <a:solidFill>
                  <a:srgbClr val="000000"/>
                </a:solidFill>
                <a:latin typeface="Pretendard ExtraLight" pitchFamily="34" charset="0"/>
                <a:ea typeface="Pretendard ExtraLight" pitchFamily="34" charset="-122"/>
                <a:cs typeface="Pretendard ExtraLight" pitchFamily="34" charset="-120"/>
              </a:defRPr>
            </a:lvl1pPr>
          </a:lstStyle>
          <a:p>
            <a:pPr indent="0" marL="0">
              <a:buNone/>
            </a:pPr>
            <a:r>
              <a:rPr lang="en-US" sz="2200" dirty="0">
                <a:solidFill>
                  <a:srgbClr val="000000"/>
                </a:solidFill>
                <a:latin typeface="Pretendard ExtraLight" pitchFamily="34" charset="0"/>
                <a:ea typeface="Pretendard ExtraLight" pitchFamily="34" charset="-122"/>
                <a:cs typeface="Pretendard ExtraLight" pitchFamily="34" charset="-120"/>
              </a:rPr>
              <a:t>부제</a:t>
            </a:r>
            <a:endParaRPr lang="en-US" sz="2200" dirty="0"/>
          </a:p>
        </p:txBody>
      </p:sp>
      <p:sp>
        <p:nvSpPr>
          <p:cNvPr id="4" name="Text 0"/>
          <p:cNvSpPr/>
          <p:nvPr>
            <p:ph idx="102" type="body" hasCustomPrompt="1"/>
          </p:nvPr>
        </p:nvSpPr>
        <p:spPr>
          <a:xfrm>
            <a:off x="685800" y="5577840"/>
            <a:ext cx="8229600" cy="320040"/>
          </a:xfrm>
          <a:prstGeom prst="rect">
            <a:avLst/>
          </a:prstGeom>
          <a:noFill/>
          <a:ln/>
        </p:spPr>
        <p:txBody>
          <a:bodyPr wrap="square" lIns="0" tIns="0" rIns="0" bIns="0" rtlCol="0" anchor="t">
            <a:noAutofit/>
          </a:bodyPr>
          <a:lstStyle>
            <a:lvl1pPr algn="l" indent="0" marL="0">
              <a:buNone/>
              <a:defRPr lang="en-US" sz="1400" dirty="0">
                <a:solidFill>
                  <a:srgbClr val="AFAFAF"/>
                </a:solidFill>
                <a:latin typeface="Pretendard Medium" pitchFamily="34" charset="0"/>
                <a:ea typeface="Pretendard Medium" pitchFamily="34" charset="-122"/>
                <a:cs typeface="Pretendard Medium" pitchFamily="34" charset="-120"/>
              </a:defRPr>
            </a:lvl1pPr>
          </a:lstStyle>
          <a:p>
            <a:pPr indent="0" marL="0">
              <a:buNone/>
            </a:pPr>
            <a:r>
              <a:rPr lang="en-US" sz="1400" dirty="0">
                <a:solidFill>
                  <a:srgbClr val="AFAFAF"/>
                </a:solidFill>
                <a:latin typeface="Pretendard Medium" pitchFamily="34" charset="0"/>
                <a:ea typeface="Pretendard Medium" pitchFamily="34" charset="-122"/>
                <a:cs typeface="Pretendard Medium" pitchFamily="34" charset="-120"/>
              </a:rPr>
              <a:t>연락처</a:t>
            </a:r>
            <a:endParaRPr lang="en-US" sz="1400" dirty="0"/>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AI 모빌리티 · 가천대학교 스마트시티학과</a:t>
            </a:r>
          </a:p>
        </p:txBody>
      </p:sp>
      <p:sp>
        <p:nvSpPr>
          <p:cNvPr id="3" name="Text Placeholder 2"/>
          <p:cNvSpPr>
            <a:spLocks noGrp="1"/>
          </p:cNvSpPr>
          <p:nvPr>
            <p:ph type="body" idx="101"/>
          </p:nvPr>
        </p:nvSpPr>
        <p:spPr/>
        <p:txBody>
          <a:bodyPr/>
          <a:lstStyle/>
          <a:p>
            <a:r>
              <a:t>2주차</a:t>
            </a:r>
          </a:p>
        </p:txBody>
      </p:sp>
      <p:sp>
        <p:nvSpPr>
          <p:cNvPr id="4" name="Title 3"/>
          <p:cNvSpPr>
            <a:spLocks noGrp="1"/>
          </p:cNvSpPr>
          <p:nvPr>
            <p:ph type="title" idx="102"/>
          </p:nvPr>
        </p:nvSpPr>
        <p:spPr/>
        <p:txBody>
          <a:bodyPr/>
          <a:lstStyle/>
          <a:p>
            <a:r>
              <a:t>한눈에 보는 머신러닝</a:t>
            </a:r>
          </a:p>
        </p:txBody>
      </p:sp>
      <p:sp>
        <p:nvSpPr>
          <p:cNvPr id="5" name="Text Placeholder 4"/>
          <p:cNvSpPr>
            <a:spLocks noGrp="1"/>
          </p:cNvSpPr>
          <p:nvPr>
            <p:ph type="body" idx="103"/>
          </p:nvPr>
        </p:nvSpPr>
        <p:spPr/>
        <p:txBody>
          <a:bodyPr/>
          <a:lstStyle/>
          <a:p>
            <a:r>
              <a:t>핸즈온 머신러닝 3판 1장</a:t>
            </a:r>
          </a:p>
        </p:txBody>
      </p:sp>
      <p:sp>
        <p:nvSpPr>
          <p:cNvPr id="6" name="Text Placeholder 5"/>
          <p:cNvSpPr>
            <a:spLocks noGrp="1"/>
          </p:cNvSpPr>
          <p:nvPr>
            <p:ph type="body" idx="104"/>
          </p:nvPr>
        </p:nvSpPr>
        <p:spPr/>
        <p:txBody>
          <a:bodyPr/>
          <a:lstStyle/>
          <a:p>
            <a:r>
              <a:t>여지호 교수 · 스마트시티학과</a:t>
            </a:r>
          </a:p>
        </p:txBody>
      </p:sp>
      <p:sp>
        <p:nvSpPr>
          <p:cNvPr id="7" name="Text Placeholder 6"/>
          <p:cNvSpPr>
            <a:spLocks noGrp="1"/>
          </p:cNvSpPr>
          <p:nvPr>
            <p:ph type="body" idx="105"/>
          </p:nvPr>
        </p:nvSpPr>
        <p:spPr/>
        <p:txBody>
          <a:bodyPr/>
          <a:lstStyle/>
          <a:p>
            <a:r>
              <a:t>2026년 9월 8일 (화)</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강의 목차</a:t>
            </a:r>
          </a:p>
        </p:txBody>
      </p:sp>
      <p:sp>
        <p:nvSpPr>
          <p:cNvPr id="3" name="Text Placeholder 2"/>
          <p:cNvSpPr>
            <a:spLocks noGrp="1"/>
          </p:cNvSpPr>
          <p:nvPr>
            <p:ph type="body" idx="101"/>
          </p:nvPr>
        </p:nvSpPr>
        <p:spPr/>
        <p:txBody>
          <a:bodyPr/>
          <a:lstStyle/>
          <a:p>
            <a:r>
              <a:t>Week 02</a:t>
            </a:r>
          </a:p>
        </p:txBody>
      </p:sp>
      <p:graphicFrame>
        <p:nvGraphicFramePr>
          <p:cNvPr id="5" name="Table Placeholder 4"/>
          <p:cNvGraphicFramePr>
            <a:graphicFrameLocks noGrp="1"/>
          </p:cNvGraphicFramePr>
          <p:nvPr>
            <p:ph type="tbl" idx="103"/>
          </p:nvPr>
        </p:nvGraphicFramePr>
        <p:xfrm>
          <a:off x="685800" y="1828800"/>
          <a:ext cx="10820093" cy="3683000"/>
        </p:xfrm>
        <a:graphic>
          <a:graphicData uri="http://schemas.openxmlformats.org/drawingml/2006/table">
            <a:tbl>
              <a:tblPr firstRow="0" bandRow="0" firstCol="0" lastRow="0" lastCol="0" bandCol="0"/>
              <a:tblGrid>
                <a:gridCol w="914631"/>
                <a:gridCol w="2560969"/>
                <a:gridCol w="7344493"/>
              </a:tblGrid>
              <a:tr h="736600">
                <a:tc>
                  <a:txBody>
                    <a:bodyPr/>
                    <a:lstStyle/>
                    <a:p>
                      <a:r>
                        <a:rPr sz="2600" b="0">
                          <a:solidFill>
                            <a:srgbClr val="000000"/>
                          </a:solidFill>
                          <a:latin typeface="Pretendard ExtraBold"/>
                        </a:rPr>
                        <a:t>01</a:t>
                      </a:r>
                    </a:p>
                  </a:txBody>
                  <a:tcPr marL="0" marR="101600" marT="127000" marB="127000" anchor="ctr">
                    <a:solidFill>
                      <a:srgbClr val="FFFFFF"/>
                    </a:solidFill>
                    <a:lnL w="0">
                      <a:noFill/>
                    </a:lnL>
                    <a:lnR w="0">
                      <a:noFill/>
                    </a:lnR>
                    <a:lnT w="0">
                      <a:noFill/>
                    </a:lnT>
                    <a:lnB w="9525">
                      <a:solidFill>
                        <a:srgbClr val="E2E2E2"/>
                      </a:solidFill>
                    </a:lnB>
                  </a:tcPr>
                </a:tc>
                <a:tc>
                  <a:txBody>
                    <a:bodyPr/>
                    <a:lstStyle/>
                    <a:p>
                      <a:r>
                        <a:rPr sz="1800" b="1">
                          <a:solidFill>
                            <a:srgbClr val="000000"/>
                          </a:solidFill>
                          <a:latin typeface="Pretendard"/>
                        </a:rPr>
                        <a:t>머신러닝의 정의와 사용 이유</a:t>
                      </a:r>
                    </a:p>
                  </a:txBody>
                  <a:tcPr marL="101600" marR="101600" marT="127000" marB="1270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1.1 교재 1장의 구성  ·  1.2 머신러닝의 정의  ·  1.3 머신러닝을 사용하는 이유  ·  1.4 애플리케이션 사례</a:t>
                      </a:r>
                    </a:p>
                  </a:txBody>
                  <a:tcPr marL="101600" marR="101600" marT="127000" marB="127000" anchor="ctr">
                    <a:solidFill>
                      <a:srgbClr val="FFFFFF"/>
                    </a:solidFill>
                    <a:lnL w="0">
                      <a:noFill/>
                    </a:lnL>
                    <a:lnR w="0">
                      <a:noFill/>
                    </a:lnR>
                    <a:lnT w="0">
                      <a:noFill/>
                    </a:lnT>
                    <a:lnB w="9525">
                      <a:solidFill>
                        <a:srgbClr val="E2E2E2"/>
                      </a:solidFill>
                    </a:lnB>
                  </a:tcPr>
                </a:tc>
              </a:tr>
              <a:tr h="736600">
                <a:tc>
                  <a:txBody>
                    <a:bodyPr/>
                    <a:lstStyle/>
                    <a:p>
                      <a:r>
                        <a:rPr sz="2600" b="0">
                          <a:solidFill>
                            <a:srgbClr val="000000"/>
                          </a:solidFill>
                          <a:latin typeface="Pretendard ExtraBold"/>
                        </a:rPr>
                        <a:t>02</a:t>
                      </a:r>
                    </a:p>
                  </a:txBody>
                  <a:tcPr marL="0" marR="101600" marT="127000" marB="127000" anchor="ctr">
                    <a:solidFill>
                      <a:srgbClr val="FFFFFF"/>
                    </a:solidFill>
                    <a:lnL w="0">
                      <a:noFill/>
                    </a:lnL>
                    <a:lnR w="0">
                      <a:noFill/>
                    </a:lnR>
                    <a:lnT w="0">
                      <a:noFill/>
                    </a:lnT>
                    <a:lnB w="9525">
                      <a:solidFill>
                        <a:srgbClr val="E2E2E2"/>
                      </a:solidFill>
                    </a:lnB>
                  </a:tcPr>
                </a:tc>
                <a:tc>
                  <a:txBody>
                    <a:bodyPr/>
                    <a:lstStyle/>
                    <a:p>
                      <a:r>
                        <a:rPr sz="1800" b="1">
                          <a:solidFill>
                            <a:srgbClr val="000000"/>
                          </a:solidFill>
                          <a:latin typeface="Pretendard"/>
                        </a:rPr>
                        <a:t>머신러닝 시스템의 종류</a:t>
                      </a:r>
                    </a:p>
                  </a:txBody>
                  <a:tcPr marL="101600" marR="101600" marT="127000" marB="1270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2.1 세 가지 분류 기준  ·  2.2 지도 학습과 비지도 학습  ·  2.3 준지도·자기 지도·강화 학습  ·  2.4 배치 학습과 온라인 학습  ·  2.5 사례 기반 학습과 모델 기반 학습</a:t>
                      </a:r>
                    </a:p>
                  </a:txBody>
                  <a:tcPr marL="101600" marR="101600" marT="127000" marB="127000" anchor="ctr">
                    <a:solidFill>
                      <a:srgbClr val="FFFFFF"/>
                    </a:solidFill>
                    <a:lnL w="0">
                      <a:noFill/>
                    </a:lnL>
                    <a:lnR w="0">
                      <a:noFill/>
                    </a:lnR>
                    <a:lnT w="0">
                      <a:noFill/>
                    </a:lnT>
                    <a:lnB w="9525">
                      <a:solidFill>
                        <a:srgbClr val="E2E2E2"/>
                      </a:solidFill>
                    </a:lnB>
                  </a:tcPr>
                </a:tc>
              </a:tr>
              <a:tr h="736600">
                <a:tc>
                  <a:txBody>
                    <a:bodyPr/>
                    <a:lstStyle/>
                    <a:p>
                      <a:r>
                        <a:rPr sz="2600" b="0">
                          <a:solidFill>
                            <a:srgbClr val="000000"/>
                          </a:solidFill>
                          <a:latin typeface="Pretendard ExtraBold"/>
                        </a:rPr>
                        <a:t>03</a:t>
                      </a:r>
                    </a:p>
                  </a:txBody>
                  <a:tcPr marL="0" marR="101600" marT="127000" marB="127000" anchor="ctr">
                    <a:solidFill>
                      <a:srgbClr val="FFFFFF"/>
                    </a:solidFill>
                    <a:lnL w="0">
                      <a:noFill/>
                    </a:lnL>
                    <a:lnR w="0">
                      <a:noFill/>
                    </a:lnR>
                    <a:lnT w="0">
                      <a:noFill/>
                    </a:lnT>
                    <a:lnB w="9525">
                      <a:solidFill>
                        <a:srgbClr val="E2E2E2"/>
                      </a:solidFill>
                    </a:lnB>
                  </a:tcPr>
                </a:tc>
                <a:tc>
                  <a:txBody>
                    <a:bodyPr/>
                    <a:lstStyle/>
                    <a:p>
                      <a:r>
                        <a:rPr sz="1800" b="1">
                          <a:solidFill>
                            <a:srgbClr val="000000"/>
                          </a:solidFill>
                          <a:latin typeface="Pretendard"/>
                        </a:rPr>
                        <a:t>머신러닝의 주요 도전 과제</a:t>
                      </a:r>
                    </a:p>
                  </a:txBody>
                  <a:tcPr marL="101600" marR="101600" marT="127000" marB="1270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3.1 나쁜 데이터 — 양과 대표성  ·  3.2 나쁜 데이터 — 품질과 특성  ·  3.3 훈련 데이터 과대적합  ·  3.4 훈련 데이터 과소적합</a:t>
                      </a:r>
                    </a:p>
                  </a:txBody>
                  <a:tcPr marL="101600" marR="101600" marT="127000" marB="127000" anchor="ctr">
                    <a:solidFill>
                      <a:srgbClr val="FFFFFF"/>
                    </a:solidFill>
                    <a:lnL w="0">
                      <a:noFill/>
                    </a:lnL>
                    <a:lnR w="0">
                      <a:noFill/>
                    </a:lnR>
                    <a:lnT w="0">
                      <a:noFill/>
                    </a:lnT>
                    <a:lnB w="9525">
                      <a:solidFill>
                        <a:srgbClr val="E2E2E2"/>
                      </a:solidFill>
                    </a:lnB>
                  </a:tcPr>
                </a:tc>
              </a:tr>
              <a:tr h="736600">
                <a:tc>
                  <a:txBody>
                    <a:bodyPr/>
                    <a:lstStyle/>
                    <a:p>
                      <a:r>
                        <a:rPr sz="2600" b="0">
                          <a:solidFill>
                            <a:srgbClr val="000000"/>
                          </a:solidFill>
                          <a:latin typeface="Pretendard ExtraBold"/>
                        </a:rPr>
                        <a:t>04</a:t>
                      </a:r>
                    </a:p>
                  </a:txBody>
                  <a:tcPr marL="0" marR="101600" marT="127000" marB="127000" anchor="ctr">
                    <a:solidFill>
                      <a:srgbClr val="FFFFFF"/>
                    </a:solidFill>
                    <a:lnL w="0">
                      <a:noFill/>
                    </a:lnL>
                    <a:lnR w="0">
                      <a:noFill/>
                    </a:lnR>
                    <a:lnT w="0">
                      <a:noFill/>
                    </a:lnT>
                    <a:lnB w="9525">
                      <a:solidFill>
                        <a:srgbClr val="E2E2E2"/>
                      </a:solidFill>
                    </a:lnB>
                  </a:tcPr>
                </a:tc>
                <a:tc>
                  <a:txBody>
                    <a:bodyPr/>
                    <a:lstStyle/>
                    <a:p>
                      <a:r>
                        <a:rPr sz="1800" b="1">
                          <a:solidFill>
                            <a:srgbClr val="000000"/>
                          </a:solidFill>
                          <a:latin typeface="Pretendard"/>
                        </a:rPr>
                        <a:t>테스트와 검증</a:t>
                      </a:r>
                    </a:p>
                  </a:txBody>
                  <a:tcPr marL="101600" marR="101600" marT="127000" marB="1270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4.1 일반화 오차와 테스트 세트  ·  4.2 하이퍼파라미터 튜닝과 모델 선택  ·  4.3 데이터 불일치  ·  4.4 시간 순서 분할</a:t>
                      </a:r>
                    </a:p>
                  </a:txBody>
                  <a:tcPr marL="101600" marR="101600" marT="127000" marB="127000" anchor="ctr">
                    <a:solidFill>
                      <a:srgbClr val="FFFFFF"/>
                    </a:solidFill>
                    <a:lnL w="0">
                      <a:noFill/>
                    </a:lnL>
                    <a:lnR w="0">
                      <a:noFill/>
                    </a:lnR>
                    <a:lnT w="0">
                      <a:noFill/>
                    </a:lnT>
                    <a:lnB w="9525">
                      <a:solidFill>
                        <a:srgbClr val="E2E2E2"/>
                      </a:solidFill>
                    </a:lnB>
                  </a:tcPr>
                </a:tc>
              </a:tr>
              <a:tr h="736600">
                <a:tc>
                  <a:txBody>
                    <a:bodyPr/>
                    <a:lstStyle/>
                    <a:p>
                      <a:r>
                        <a:rPr sz="2600" b="0">
                          <a:solidFill>
                            <a:srgbClr val="000000"/>
                          </a:solidFill>
                          <a:latin typeface="Pretendard ExtraBold"/>
                        </a:rPr>
                        <a:t>05</a:t>
                      </a:r>
                    </a:p>
                  </a:txBody>
                  <a:tcPr marL="0" marR="101600" marT="127000" marB="127000" anchor="ctr">
                    <a:solidFill>
                      <a:srgbClr val="FFFFFF"/>
                    </a:solidFill>
                    <a:lnL w="0">
                      <a:noFill/>
                    </a:lnL>
                    <a:lnR w="0">
                      <a:noFill/>
                    </a:lnR>
                    <a:lnT w="0">
                      <a:noFill/>
                    </a:lnT>
                    <a:lnB w="9525">
                      <a:solidFill>
                        <a:srgbClr val="E2E2E2"/>
                      </a:solidFill>
                    </a:lnB>
                  </a:tcPr>
                </a:tc>
                <a:tc>
                  <a:txBody>
                    <a:bodyPr/>
                    <a:lstStyle/>
                    <a:p>
                      <a:r>
                        <a:rPr sz="1800" b="1">
                          <a:solidFill>
                            <a:srgbClr val="000000"/>
                          </a:solidFill>
                          <a:latin typeface="Pretendard"/>
                        </a:rPr>
                        <a:t>정리</a:t>
                      </a:r>
                    </a:p>
                  </a:txBody>
                  <a:tcPr marL="101600" marR="101600" marT="127000" marB="1270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5.1 오늘의 요약  ·  5.2 이번 주 할 일</a:t>
                      </a:r>
                    </a:p>
                  </a:txBody>
                  <a:tcPr marL="101600" marR="101600" marT="127000" marB="127000" anchor="ctr">
                    <a:solidFill>
                      <a:srgbClr val="FFFFFF"/>
                    </a:solidFill>
                    <a:lnL w="0">
                      <a:noFill/>
                    </a:lnL>
                    <a:lnR w="0">
                      <a:noFill/>
                    </a:lnR>
                    <a:lnT w="0">
                      <a:noFill/>
                    </a:lnT>
                    <a:lnB w="9525">
                      <a:solidFill>
                        <a:srgbClr val="E2E2E2"/>
                      </a:solidFill>
                    </a:lnB>
                  </a:tcPr>
                </a:tc>
              </a:tr>
            </a:tbl>
          </a:graphicData>
        </a:graphic>
      </p:graphicFrame>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1007</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01</a:t>
            </a:r>
          </a:p>
        </p:txBody>
      </p:sp>
      <p:sp>
        <p:nvSpPr>
          <p:cNvPr id="3" name="Title 2"/>
          <p:cNvSpPr>
            <a:spLocks noGrp="1"/>
          </p:cNvSpPr>
          <p:nvPr>
            <p:ph type="title" idx="101"/>
          </p:nvPr>
        </p:nvSpPr>
        <p:spPr/>
        <p:txBody>
          <a:bodyPr/>
          <a:lstStyle/>
          <a:p>
            <a:r>
              <a:t>머신러닝의 정의와 사용 이유</a:t>
            </a:r>
          </a:p>
        </p:txBody>
      </p:sp>
      <p:sp>
        <p:nvSpPr>
          <p:cNvPr id="4" name="Text Placeholder 3"/>
          <p:cNvSpPr>
            <a:spLocks noGrp="1"/>
          </p:cNvSpPr>
          <p:nvPr>
            <p:ph type="body" idx="102"/>
          </p:nvPr>
        </p:nvSpPr>
        <p:spPr/>
        <p:txBody>
          <a:bodyPr/>
          <a:lstStyle/>
          <a:p>
            <a:pPr>
              <a:spcAft>
                <a:spcPts val="1000"/>
              </a:spcAft>
            </a:pPr>
            <a:r>
              <a:rPr>
                <a:solidFill>
                  <a:srgbClr val="AFAFAF"/>
                </a:solidFill>
              </a:rPr>
              <a:t>1.1  </a:t>
            </a:r>
            <a:r>
              <a:t>교재 1장의 구성</a:t>
            </a:r>
          </a:p>
          <a:p>
            <a:pPr>
              <a:spcAft>
                <a:spcPts val="1000"/>
              </a:spcAft>
            </a:pPr>
            <a:r>
              <a:rPr>
                <a:solidFill>
                  <a:srgbClr val="AFAFAF"/>
                </a:solidFill>
              </a:rPr>
              <a:t>1.2  </a:t>
            </a:r>
            <a:r>
              <a:t>머신러닝의 정의</a:t>
            </a:r>
          </a:p>
          <a:p>
            <a:pPr>
              <a:spcAft>
                <a:spcPts val="1000"/>
              </a:spcAft>
            </a:pPr>
            <a:r>
              <a:rPr>
                <a:solidFill>
                  <a:srgbClr val="AFAFAF"/>
                </a:solidFill>
              </a:rPr>
              <a:t>1.3  </a:t>
            </a:r>
            <a:r>
              <a:t>머신러닝을 사용하는 이유</a:t>
            </a:r>
          </a:p>
          <a:p>
            <a:pPr>
              <a:spcAft>
                <a:spcPts val="1000"/>
              </a:spcAft>
            </a:pPr>
            <a:r>
              <a:rPr>
                <a:solidFill>
                  <a:srgbClr val="AFAFAF"/>
                </a:solidFill>
              </a:rPr>
              <a:t>1.4  </a:t>
            </a:r>
            <a:r>
              <a:t>애플리케이션 사례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1.1 교재 1장의 구성</a:t>
            </a:r>
          </a:p>
        </p:txBody>
      </p:sp>
      <p:sp>
        <p:nvSpPr>
          <p:cNvPr id="3" name="Text Placeholder 2"/>
          <p:cNvSpPr>
            <a:spLocks noGrp="1"/>
          </p:cNvSpPr>
          <p:nvPr>
            <p:ph type="body" idx="101"/>
          </p:nvPr>
        </p:nvSpPr>
        <p:spPr/>
        <p:txBody>
          <a:bodyPr/>
          <a:lstStyle/>
          <a:p>
            <a:r>
              <a:t>1. 머신러닝의 정의와 사용 이유</a:t>
            </a:r>
          </a:p>
        </p:txBody>
      </p:sp>
      <p:sp>
        <p:nvSpPr>
          <p:cNvPr id="4" name="Text Placeholder 3"/>
          <p:cNvSpPr>
            <a:spLocks noGrp="1"/>
          </p:cNvSpPr>
          <p:nvPr>
            <p:ph type="body" idx="102"/>
          </p:nvPr>
        </p:nvSpPr>
        <p:spPr/>
        <p:txBody>
          <a:bodyPr/>
          <a:lstStyle/>
          <a:p>
            <a:r>
              <a:t>표 1. 오늘 다루는 교재 1장의 절과 쪽</a:t>
            </a:r>
          </a:p>
        </p:txBody>
      </p:sp>
      <p:graphicFrame>
        <p:nvGraphicFramePr>
          <p:cNvPr id="5" name="Table Placeholder 4"/>
          <p:cNvGraphicFramePr>
            <a:graphicFrameLocks noGrp="1"/>
          </p:cNvGraphicFramePr>
          <p:nvPr>
            <p:ph type="tbl" idx="103"/>
          </p:nvPr>
        </p:nvGraphicFramePr>
        <p:xfrm>
          <a:off x="685800" y="1828800"/>
          <a:ext cx="10820095" cy="3581400"/>
        </p:xfrm>
        <a:graphic>
          <a:graphicData uri="http://schemas.openxmlformats.org/drawingml/2006/table">
            <a:tbl>
              <a:tblPr firstRow="0" bandRow="0" firstCol="0" lastRow="0" lastCol="0" bandCol="0"/>
              <a:tblGrid>
                <a:gridCol w="3606698"/>
                <a:gridCol w="3606698"/>
                <a:gridCol w="3606699"/>
              </a:tblGrid>
              <a:tr h="406400">
                <a:tc>
                  <a:txBody>
                    <a:bodyPr/>
                    <a:lstStyle/>
                    <a:p>
                      <a:r>
                        <a:rPr sz="1300" b="0">
                          <a:solidFill>
                            <a:srgbClr val="FFFFFF"/>
                          </a:solidFill>
                          <a:latin typeface="Pretendard Medium"/>
                        </a:rPr>
                        <a:t>절</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제목</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쪽</a:t>
                      </a:r>
                    </a:p>
                  </a:txBody>
                  <a:tcPr marL="101600" marR="101600" marT="76200" marB="76200" anchor="ctr">
                    <a:solidFill>
                      <a:srgbClr val="000000"/>
                    </a:solidFill>
                    <a:lnL w="0">
                      <a:noFill/>
                    </a:lnL>
                    <a:lnR w="0">
                      <a:noFill/>
                    </a:lnR>
                    <a:lnT w="0">
                      <a:noFill/>
                    </a:lnT>
                    <a:lnB w="0">
                      <a:noFill/>
                    </a:lnB>
                  </a:tcPr>
                </a:tc>
              </a:tr>
              <a:tr h="635000">
                <a:tc>
                  <a:txBody>
                    <a:bodyPr/>
                    <a:lstStyle/>
                    <a:p>
                      <a:r>
                        <a:rPr sz="1300" b="1">
                          <a:solidFill>
                            <a:srgbClr val="000000"/>
                          </a:solidFill>
                          <a:latin typeface="Pretendard"/>
                        </a:rPr>
                        <a:t>1.1~1.3</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머신러닝이란, 사용 이유, 애플리케이션 사례</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28</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1.4</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머신러닝 시스템의 종류</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34</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1.5</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머신러닝의 주요 도전 과제</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54</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1.6</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테스트와 검증</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62</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연습문제 (수업에서 다루지 않음)</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66</a:t>
                      </a:r>
                    </a:p>
                  </a:txBody>
                  <a:tcPr marL="101600" marR="101600" marT="101600" marB="101600" anchor="ctr">
                    <a:solidFill>
                      <a:srgbClr val="FFFFFF"/>
                    </a:solidFill>
                    <a:lnL w="0">
                      <a:noFill/>
                    </a:lnL>
                    <a:lnR w="0">
                      <a:noFill/>
                    </a:lnR>
                    <a:lnT w="0">
                      <a:noFill/>
                    </a:lnT>
                    <a:lnB w="9525">
                      <a:solidFill>
                        <a:srgbClr val="E2E2E2"/>
                      </a:solidFill>
                    </a:lnB>
                  </a:tcPr>
                </a:tc>
              </a:tr>
            </a:tbl>
          </a:graphicData>
        </a:graphic>
      </p:graphicFrame>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1007</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1.2 머신러닝의 정의</a:t>
            </a:r>
          </a:p>
        </p:txBody>
      </p:sp>
      <p:sp>
        <p:nvSpPr>
          <p:cNvPr id="3" name="Text Placeholder 2"/>
          <p:cNvSpPr>
            <a:spLocks noGrp="1"/>
          </p:cNvSpPr>
          <p:nvPr>
            <p:ph type="body" idx="101"/>
          </p:nvPr>
        </p:nvSpPr>
        <p:spPr/>
        <p:txBody>
          <a:bodyPr/>
          <a:lstStyle/>
          <a:p>
            <a:r>
              <a:t>1. 머신러닝의 정의와 사용 이유</a:t>
            </a:r>
          </a:p>
        </p:txBody>
      </p:sp>
      <p:sp>
        <p:nvSpPr>
          <p:cNvPr id="4" name="Text Placeholder 3"/>
          <p:cNvSpPr>
            <a:spLocks noGrp="1"/>
          </p:cNvSpPr>
          <p:nvPr>
            <p:ph type="body" idx="102"/>
          </p:nvPr>
        </p:nvSpPr>
        <p:spPr/>
        <p:txBody>
          <a:bodyPr/>
          <a:lstStyle/>
          <a:p>
            <a:pPr/>
            <a:r>
              <a:rPr b="1">
                <a:latin typeface="Pretendard"/>
              </a:rPr>
              <a:t>새뮤얼(1959)</a:t>
            </a:r>
            <a:r>
              <a:t> — 명시적인 프로그래밍 없이 학습하는 능력을 갖추게 하는 연구 분야</a:t>
            </a:r>
          </a:p>
          <a:p>
            <a:pPr/>
            <a:r>
              <a:rPr b="1">
                <a:latin typeface="Pretendard"/>
              </a:rPr>
              <a:t>미첼(1997)</a:t>
            </a:r>
            <a:r>
              <a:t> — 작업 T, 성능 측정 P, 경험 E</a:t>
            </a:r>
          </a:p>
          <a:p>
            <a:pPr lvl="1"/>
            <a:r>
              <a:t>경험 E로 작업 T의 성능 P가 향상되면 학습</a:t>
            </a:r>
          </a:p>
          <a:p>
            <a:pPr/>
            <a:r>
              <a:t>스팸 필터 — T 스팸 구분, E 훈련 데이터, P 정확도</a:t>
            </a:r>
          </a:p>
          <a:p>
            <a:pPr/>
            <a:r>
              <a:t>데이터를 모으는 것은 학습이 아님 — 위키백과 내려받기</a:t>
            </a:r>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1004</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1.3 머신러닝을 사용하는 이유</a:t>
            </a:r>
          </a:p>
        </p:txBody>
      </p:sp>
      <p:sp>
        <p:nvSpPr>
          <p:cNvPr id="3" name="Text Placeholder 2"/>
          <p:cNvSpPr>
            <a:spLocks noGrp="1"/>
          </p:cNvSpPr>
          <p:nvPr>
            <p:ph type="body" idx="101"/>
          </p:nvPr>
        </p:nvSpPr>
        <p:spPr/>
        <p:txBody>
          <a:bodyPr/>
          <a:lstStyle/>
          <a:p>
            <a:r>
              <a:t>1. 머신러닝의 정의와 사용 이유</a:t>
            </a:r>
          </a:p>
        </p:txBody>
      </p:sp>
      <p:sp>
        <p:nvSpPr>
          <p:cNvPr id="4" name="Text Placeholder 3"/>
          <p:cNvSpPr>
            <a:spLocks noGrp="1"/>
          </p:cNvSpPr>
          <p:nvPr>
            <p:ph type="body" idx="102"/>
          </p:nvPr>
        </p:nvSpPr>
        <p:spPr/>
        <p:txBody>
          <a:bodyPr/>
          <a:lstStyle/>
          <a:p>
            <a:pPr/>
            <a:r>
              <a:t>규칙을 사람이 작성</a:t>
            </a:r>
          </a:p>
          <a:p>
            <a:pPr/>
            <a:r>
              <a:t>조건이 늘수록 유지 부담</a:t>
            </a:r>
          </a:p>
          <a:p>
            <a:pPr/>
            <a:r>
              <a:t>규칙을 데이터에서 학습</a:t>
            </a:r>
          </a:p>
          <a:p>
            <a:pPr/>
            <a:r>
              <a:t>자동으로 변화에 적응</a:t>
            </a:r>
          </a:p>
          <a:p>
            <a:pPr/>
            <a:r>
              <a:t>데이터 마이닝으로 이해</a:t>
            </a:r>
          </a:p>
        </p:txBody>
      </p:sp>
      <p:sp>
        <p:nvSpPr>
          <p:cNvPr id="5" name="Text Placeholder 4"/>
          <p:cNvSpPr>
            <a:spLocks noGrp="1"/>
          </p:cNvSpPr>
          <p:nvPr>
            <p:ph type="body" idx="103"/>
          </p:nvPr>
        </p:nvSpPr>
        <p:spPr/>
        <p:txBody>
          <a:bodyPr/>
          <a:lstStyle/>
          <a:p>
            <a:r>
              <a:t>표 2. 스팸 필터의 두 접근법 (교재 그림 1-1·1-2)</a:t>
            </a:r>
          </a:p>
        </p:txBody>
      </p:sp>
      <p:graphicFrame>
        <p:nvGraphicFramePr>
          <p:cNvPr id="6" name="Table Placeholder 5"/>
          <p:cNvGraphicFramePr>
            <a:graphicFrameLocks noGrp="1"/>
          </p:cNvGraphicFramePr>
          <p:nvPr>
            <p:ph type="tbl" idx="104"/>
          </p:nvPr>
        </p:nvGraphicFramePr>
        <p:xfrm>
          <a:off x="4937760" y="1828800"/>
          <a:ext cx="6565392" cy="2311400"/>
        </p:xfrm>
        <a:graphic>
          <a:graphicData uri="http://schemas.openxmlformats.org/drawingml/2006/table">
            <a:tbl>
              <a:tblPr firstRow="0" bandRow="0" firstCol="0" lastRow="0" lastCol="0" bandCol="0"/>
              <a:tblGrid>
                <a:gridCol w="2188464"/>
                <a:gridCol w="2188464"/>
                <a:gridCol w="2188464"/>
              </a:tblGrid>
              <a:tr h="406400">
                <a:tc>
                  <a:txBody>
                    <a:bodyPr/>
                    <a:lstStyle/>
                    <a:p>
                      <a:r>
                        <a:rPr sz="1300" b="0">
                          <a:solidFill>
                            <a:srgbClr val="FFFFFF"/>
                          </a:solidFill>
                          <a:latin typeface="Pretendard Medium"/>
                        </a:rPr>
                        <a:t>항목</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전통적 접근법</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머신러닝 접근법</a:t>
                      </a:r>
                    </a:p>
                  </a:txBody>
                  <a:tcPr marL="101600" marR="101600" marT="76200" marB="76200" anchor="ctr">
                    <a:solidFill>
                      <a:srgbClr val="000000"/>
                    </a:solidFill>
                    <a:lnL w="0">
                      <a:noFill/>
                    </a:lnL>
                    <a:lnR w="0">
                      <a:noFill/>
                    </a:lnR>
                    <a:lnT w="0">
                      <a:noFill/>
                    </a:lnT>
                    <a:lnB w="0">
                      <a:noFill/>
                    </a:lnB>
                  </a:tcPr>
                </a:tc>
              </a:tr>
              <a:tr h="635000">
                <a:tc>
                  <a:txBody>
                    <a:bodyPr/>
                    <a:lstStyle/>
                    <a:p>
                      <a:r>
                        <a:rPr sz="1300" b="1">
                          <a:solidFill>
                            <a:srgbClr val="000000"/>
                          </a:solidFill>
                          <a:latin typeface="Pretendard"/>
                        </a:rPr>
                        <a:t>규칙</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사람이 작성</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알고리즘이 학습</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변경</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규칙 수정 후 재배포</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새 데이터로 재훈련</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결과</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규칙이 길고 복잡</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프로그램이 짧아짐</a:t>
                      </a:r>
                    </a:p>
                  </a:txBody>
                  <a:tcPr marL="101600" marR="101600" marT="101600" marB="101600" anchor="ctr">
                    <a:solidFill>
                      <a:srgbClr val="FFFFFF"/>
                    </a:solidFill>
                    <a:lnL w="0">
                      <a:noFill/>
                    </a:lnL>
                    <a:lnR w="0">
                      <a:noFill/>
                    </a:lnR>
                    <a:lnT w="0">
                      <a:noFill/>
                    </a:lnT>
                    <a:lnB w="9525">
                      <a:solidFill>
                        <a:srgbClr val="E2E2E2"/>
                      </a:solidFill>
                    </a:lnB>
                  </a:tcPr>
                </a:tc>
              </a:tr>
            </a:tbl>
          </a:graphicData>
        </a:graphic>
      </p:graphicFrame>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1008</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1.4 애플리케이션 사례</a:t>
            </a:r>
          </a:p>
        </p:txBody>
      </p:sp>
      <p:sp>
        <p:nvSpPr>
          <p:cNvPr id="3" name="Text Placeholder 2"/>
          <p:cNvSpPr>
            <a:spLocks noGrp="1"/>
          </p:cNvSpPr>
          <p:nvPr>
            <p:ph type="body" idx="101"/>
          </p:nvPr>
        </p:nvSpPr>
        <p:spPr/>
        <p:txBody>
          <a:bodyPr/>
          <a:lstStyle/>
          <a:p>
            <a:r>
              <a:t>1. 머신러닝의 정의와 사용 이유</a:t>
            </a:r>
          </a:p>
        </p:txBody>
      </p:sp>
      <p:sp>
        <p:nvSpPr>
          <p:cNvPr id="4" name="Text Placeholder 3"/>
          <p:cNvSpPr>
            <a:spLocks noGrp="1"/>
          </p:cNvSpPr>
          <p:nvPr>
            <p:ph type="body" idx="102"/>
          </p:nvPr>
        </p:nvSpPr>
        <p:spPr/>
        <p:txBody>
          <a:bodyPr/>
          <a:lstStyle/>
          <a:p>
            <a:r>
              <a:t>표 3. 교재의 작업 유형과 모빌리티 대응</a:t>
            </a:r>
          </a:p>
        </p:txBody>
      </p:sp>
      <p:graphicFrame>
        <p:nvGraphicFramePr>
          <p:cNvPr id="5" name="Table Placeholder 4"/>
          <p:cNvGraphicFramePr>
            <a:graphicFrameLocks noGrp="1"/>
          </p:cNvGraphicFramePr>
          <p:nvPr>
            <p:ph type="tbl" idx="103"/>
          </p:nvPr>
        </p:nvGraphicFramePr>
        <p:xfrm>
          <a:off x="685800" y="1828800"/>
          <a:ext cx="10820095" cy="3581400"/>
        </p:xfrm>
        <a:graphic>
          <a:graphicData uri="http://schemas.openxmlformats.org/drawingml/2006/table">
            <a:tbl>
              <a:tblPr firstRow="0" bandRow="0" firstCol="0" lastRow="0" lastCol="0" bandCol="0"/>
              <a:tblGrid>
                <a:gridCol w="3606698"/>
                <a:gridCol w="3606698"/>
                <a:gridCol w="3606699"/>
              </a:tblGrid>
              <a:tr h="406400">
                <a:tc>
                  <a:txBody>
                    <a:bodyPr/>
                    <a:lstStyle/>
                    <a:p>
                      <a:r>
                        <a:rPr sz="1300" b="0">
                          <a:solidFill>
                            <a:srgbClr val="FFFFFF"/>
                          </a:solidFill>
                          <a:latin typeface="Pretendard Medium"/>
                        </a:rPr>
                        <a:t>교재 사례</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작업 유형</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모빌리티 대응</a:t>
                      </a:r>
                    </a:p>
                  </a:txBody>
                  <a:tcPr marL="101600" marR="101600" marT="76200" marB="76200" anchor="ctr">
                    <a:solidFill>
                      <a:srgbClr val="000000"/>
                    </a:solidFill>
                    <a:lnL w="0">
                      <a:noFill/>
                    </a:lnL>
                    <a:lnR w="0">
                      <a:noFill/>
                    </a:lnR>
                    <a:lnT w="0">
                      <a:noFill/>
                    </a:lnT>
                    <a:lnB w="0">
                      <a:noFill/>
                    </a:lnB>
                  </a:tcPr>
                </a:tc>
              </a:tr>
              <a:tr h="635000">
                <a:tc>
                  <a:txBody>
                    <a:bodyPr/>
                    <a:lstStyle/>
                    <a:p>
                      <a:r>
                        <a:rPr sz="1300" b="1">
                          <a:solidFill>
                            <a:srgbClr val="000000"/>
                          </a:solidFill>
                          <a:latin typeface="Pretendard"/>
                        </a:rPr>
                        <a:t>생산 라인 제품 이미지 분류</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이미지 분류</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도로 시설물 판별</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내년도 수익 예측</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회귀</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통행시간·ETA 예측</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고객 세분화</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군집</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통행 패턴 그룹화</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신용카드 부정 거래 감지</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이상치 탐지</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이상 운행 감지</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지능형 게임 봇</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강화 학습</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신호 제어</a:t>
                      </a:r>
                    </a:p>
                  </a:txBody>
                  <a:tcPr marL="101600" marR="101600" marT="101600" marB="101600" anchor="ctr">
                    <a:solidFill>
                      <a:srgbClr val="FFFFFF"/>
                    </a:solidFill>
                    <a:lnL w="0">
                      <a:noFill/>
                    </a:lnL>
                    <a:lnR w="0">
                      <a:noFill/>
                    </a:lnR>
                    <a:lnT w="0">
                      <a:noFill/>
                    </a:lnT>
                    <a:lnB w="9525">
                      <a:solidFill>
                        <a:srgbClr val="E2E2E2"/>
                      </a:solidFill>
                    </a:lnB>
                  </a:tcPr>
                </a:tc>
              </a:tr>
            </a:tbl>
          </a:graphicData>
        </a:graphic>
      </p:graphicFrame>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1007</a:t>
            </a:fld>
            <a:endParaRPr lang="en-US"/>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02</a:t>
            </a:r>
          </a:p>
        </p:txBody>
      </p:sp>
      <p:sp>
        <p:nvSpPr>
          <p:cNvPr id="3" name="Title 2"/>
          <p:cNvSpPr>
            <a:spLocks noGrp="1"/>
          </p:cNvSpPr>
          <p:nvPr>
            <p:ph type="title" idx="101"/>
          </p:nvPr>
        </p:nvSpPr>
        <p:spPr/>
        <p:txBody>
          <a:bodyPr/>
          <a:lstStyle/>
          <a:p>
            <a:r>
              <a:t>머신러닝 시스템의 종류</a:t>
            </a:r>
          </a:p>
        </p:txBody>
      </p:sp>
      <p:sp>
        <p:nvSpPr>
          <p:cNvPr id="4" name="Text Placeholder 3"/>
          <p:cNvSpPr>
            <a:spLocks noGrp="1"/>
          </p:cNvSpPr>
          <p:nvPr>
            <p:ph type="body" idx="102"/>
          </p:nvPr>
        </p:nvSpPr>
        <p:spPr/>
        <p:txBody>
          <a:bodyPr/>
          <a:lstStyle/>
          <a:p>
            <a:pPr>
              <a:spcAft>
                <a:spcPts val="1000"/>
              </a:spcAft>
            </a:pPr>
            <a:r>
              <a:rPr>
                <a:solidFill>
                  <a:srgbClr val="AFAFAF"/>
                </a:solidFill>
              </a:rPr>
              <a:t>2.1  </a:t>
            </a:r>
            <a:r>
              <a:t>세 가지 분류 기준</a:t>
            </a:r>
          </a:p>
          <a:p>
            <a:pPr>
              <a:spcAft>
                <a:spcPts val="1000"/>
              </a:spcAft>
            </a:pPr>
            <a:r>
              <a:rPr>
                <a:solidFill>
                  <a:srgbClr val="AFAFAF"/>
                </a:solidFill>
              </a:rPr>
              <a:t>2.2  </a:t>
            </a:r>
            <a:r>
              <a:t>지도 학습과 비지도 학습</a:t>
            </a:r>
          </a:p>
          <a:p>
            <a:pPr>
              <a:spcAft>
                <a:spcPts val="1000"/>
              </a:spcAft>
            </a:pPr>
            <a:r>
              <a:rPr>
                <a:solidFill>
                  <a:srgbClr val="AFAFAF"/>
                </a:solidFill>
              </a:rPr>
              <a:t>2.3  </a:t>
            </a:r>
            <a:r>
              <a:t>준지도·자기 지도·강화 학습</a:t>
            </a:r>
          </a:p>
          <a:p>
            <a:pPr>
              <a:spcAft>
                <a:spcPts val="1000"/>
              </a:spcAft>
            </a:pPr>
            <a:r>
              <a:rPr>
                <a:solidFill>
                  <a:srgbClr val="AFAFAF"/>
                </a:solidFill>
              </a:rPr>
              <a:t>2.4  </a:t>
            </a:r>
            <a:r>
              <a:t>배치 학습과 온라인 학습</a:t>
            </a:r>
          </a:p>
          <a:p>
            <a:pPr>
              <a:spcAft>
                <a:spcPts val="1000"/>
              </a:spcAft>
            </a:pPr>
            <a:r>
              <a:rPr>
                <a:solidFill>
                  <a:srgbClr val="AFAFAF"/>
                </a:solidFill>
              </a:rPr>
              <a:t>2.5  </a:t>
            </a:r>
            <a:r>
              <a:t>사례 기반 학습과 모델 기반 학습</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2.1 세 가지 분류 기준</a:t>
            </a:r>
          </a:p>
        </p:txBody>
      </p:sp>
      <p:sp>
        <p:nvSpPr>
          <p:cNvPr id="3" name="Text Placeholder 2"/>
          <p:cNvSpPr>
            <a:spLocks noGrp="1"/>
          </p:cNvSpPr>
          <p:nvPr>
            <p:ph type="body" idx="101"/>
          </p:nvPr>
        </p:nvSpPr>
        <p:spPr/>
        <p:txBody>
          <a:bodyPr/>
          <a:lstStyle/>
          <a:p>
            <a:r>
              <a:t>2. 머신러닝 시스템의 종류</a:t>
            </a:r>
          </a:p>
        </p:txBody>
      </p:sp>
      <p:sp>
        <p:nvSpPr>
          <p:cNvPr id="4" name="Text Placeholder 3"/>
          <p:cNvSpPr>
            <a:spLocks noGrp="1"/>
          </p:cNvSpPr>
          <p:nvPr>
            <p:ph type="body" idx="102"/>
          </p:nvPr>
        </p:nvSpPr>
        <p:spPr/>
        <p:txBody>
          <a:bodyPr/>
          <a:lstStyle/>
          <a:p>
            <a:pPr/>
            <a:r>
              <a:rPr b="1">
                <a:latin typeface="Pretendard"/>
              </a:rPr>
              <a:t>훈련 지도 방식</a:t>
            </a:r>
            <a:r>
              <a:t> — 지도, 비지도, 준지도, 자기 지도, 강화</a:t>
            </a:r>
          </a:p>
          <a:p>
            <a:pPr/>
            <a:r>
              <a:rPr b="1">
                <a:latin typeface="Pretendard"/>
              </a:rPr>
              <a:t>점진적 학습 여부</a:t>
            </a:r>
            <a:r>
              <a:t> — 배치 학습과 온라인 학습</a:t>
            </a:r>
          </a:p>
          <a:p>
            <a:pPr/>
            <a:r>
              <a:rPr b="1">
                <a:latin typeface="Pretendard"/>
              </a:rPr>
              <a:t>일반화 방식</a:t>
            </a:r>
            <a:r>
              <a:t> — 사례 기반과 모델 기반</a:t>
            </a:r>
          </a:p>
          <a:p>
            <a:pPr/>
            <a:r>
              <a:t>세 기준은 배타적이지 않고 원하는 대로 연결</a:t>
            </a:r>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1004</a:t>
            </a:fld>
            <a:endParaRPr lang="en-US"/>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2.2 지도 학습과 비지도 학습</a:t>
            </a:r>
          </a:p>
        </p:txBody>
      </p:sp>
      <p:sp>
        <p:nvSpPr>
          <p:cNvPr id="3" name="Text Placeholder 2"/>
          <p:cNvSpPr>
            <a:spLocks noGrp="1"/>
          </p:cNvSpPr>
          <p:nvPr>
            <p:ph type="body" idx="101"/>
          </p:nvPr>
        </p:nvSpPr>
        <p:spPr/>
        <p:txBody>
          <a:bodyPr/>
          <a:lstStyle/>
          <a:p>
            <a:r>
              <a:t>2. 머신러닝 시스템의 종류</a:t>
            </a:r>
          </a:p>
        </p:txBody>
      </p:sp>
      <p:sp>
        <p:nvSpPr>
          <p:cNvPr id="4" name="Text Placeholder 3"/>
          <p:cNvSpPr>
            <a:spLocks noGrp="1"/>
          </p:cNvSpPr>
          <p:nvPr>
            <p:ph type="body" idx="102"/>
          </p:nvPr>
        </p:nvSpPr>
        <p:spPr/>
        <p:txBody>
          <a:bodyPr/>
          <a:lstStyle/>
          <a:p>
            <a:pPr/>
            <a:r>
              <a:rPr b="1">
                <a:latin typeface="Pretendard"/>
              </a:rPr>
              <a:t>지도 학습</a:t>
            </a:r>
            <a:r>
              <a:t> — 훈련 데이터에 레이블 포함</a:t>
            </a:r>
          </a:p>
          <a:p>
            <a:pPr lvl="1"/>
            <a:r>
              <a:t>분류(스팸 필터), 회귀(중고차 가격)</a:t>
            </a:r>
          </a:p>
          <a:p>
            <a:pPr lvl="1"/>
            <a:r>
              <a:t>특성은 예측 변수·속성으로도 부름</a:t>
            </a:r>
          </a:p>
          <a:p>
            <a:pPr/>
            <a:r>
              <a:rPr b="1">
                <a:latin typeface="Pretendard"/>
              </a:rPr>
              <a:t>비지도 학습</a:t>
            </a:r>
            <a:r>
              <a:t> — 레이블 없이 학습</a:t>
            </a:r>
          </a:p>
          <a:p>
            <a:pPr lvl="1"/>
            <a:r>
              <a:t>군집, 시각화, 차원 축소</a:t>
            </a:r>
          </a:p>
          <a:p>
            <a:pPr lvl="1"/>
            <a:r>
              <a:t>이상치 탐지, 특이치 탐지, 연관 규칙 학습</a:t>
            </a:r>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1004</a:t>
            </a:fld>
            <a:endParaRPr lang="en-US"/>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2.3 준지도·자기 지도·강화 학습</a:t>
            </a:r>
          </a:p>
        </p:txBody>
      </p:sp>
      <p:sp>
        <p:nvSpPr>
          <p:cNvPr id="3" name="Text Placeholder 2"/>
          <p:cNvSpPr>
            <a:spLocks noGrp="1"/>
          </p:cNvSpPr>
          <p:nvPr>
            <p:ph type="body" idx="101"/>
          </p:nvPr>
        </p:nvSpPr>
        <p:spPr/>
        <p:txBody>
          <a:bodyPr/>
          <a:lstStyle/>
          <a:p>
            <a:r>
              <a:t>2. 머신러닝 시스템의 종류</a:t>
            </a:r>
          </a:p>
        </p:txBody>
      </p:sp>
      <p:sp>
        <p:nvSpPr>
          <p:cNvPr id="4" name="Text Placeholder 3"/>
          <p:cNvSpPr>
            <a:spLocks noGrp="1"/>
          </p:cNvSpPr>
          <p:nvPr>
            <p:ph type="body" idx="102"/>
          </p:nvPr>
        </p:nvSpPr>
        <p:spPr/>
        <p:txBody>
          <a:bodyPr/>
          <a:lstStyle/>
          <a:p>
            <a:pPr/>
            <a:r>
              <a:rPr b="1">
                <a:latin typeface="Pretendard"/>
              </a:rPr>
              <a:t>준지도 학습</a:t>
            </a:r>
            <a:r>
              <a:t> — 레이블이 일부에만 있음</a:t>
            </a:r>
          </a:p>
          <a:p>
            <a:pPr lvl="1"/>
            <a:r>
              <a:t>구글 포토의 인물 묶기</a:t>
            </a:r>
          </a:p>
          <a:p>
            <a:pPr/>
            <a:r>
              <a:rPr b="1">
                <a:latin typeface="Pretendard"/>
              </a:rPr>
              <a:t>자기 지도 학습</a:t>
            </a:r>
            <a:r>
              <a:t> — 레이블을 데이터에서 생성</a:t>
            </a:r>
          </a:p>
          <a:p>
            <a:pPr lvl="1"/>
            <a:r>
              <a:t>가린 이미지를 복원하도록 훈련</a:t>
            </a:r>
          </a:p>
          <a:p>
            <a:pPr lvl="1"/>
            <a:r>
              <a:t>미세 튜닝과 전이 학습으로 연결</a:t>
            </a:r>
          </a:p>
          <a:p>
            <a:pPr/>
            <a:r>
              <a:rPr b="1">
                <a:latin typeface="Pretendard"/>
              </a:rPr>
              <a:t>강화 학습</a:t>
            </a:r>
            <a:r>
              <a:t> — 에이전트가 보상으로 정책 학습</a:t>
            </a:r>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1004</a:t>
            </a:fld>
            <a:endParaRPr lang="en-US"/>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2.4 배치 학습과 온라인 학습</a:t>
            </a:r>
          </a:p>
        </p:txBody>
      </p:sp>
      <p:sp>
        <p:nvSpPr>
          <p:cNvPr id="3" name="Text Placeholder 2"/>
          <p:cNvSpPr>
            <a:spLocks noGrp="1"/>
          </p:cNvSpPr>
          <p:nvPr>
            <p:ph type="body" idx="101"/>
          </p:nvPr>
        </p:nvSpPr>
        <p:spPr/>
        <p:txBody>
          <a:bodyPr/>
          <a:lstStyle/>
          <a:p>
            <a:r>
              <a:t>2. 머신러닝 시스템의 종류</a:t>
            </a:r>
          </a:p>
        </p:txBody>
      </p:sp>
      <p:sp>
        <p:nvSpPr>
          <p:cNvPr id="4" name="Text Placeholder 3"/>
          <p:cNvSpPr>
            <a:spLocks noGrp="1"/>
          </p:cNvSpPr>
          <p:nvPr>
            <p:ph type="body" idx="102"/>
          </p:nvPr>
        </p:nvSpPr>
        <p:spPr/>
        <p:txBody>
          <a:bodyPr/>
          <a:lstStyle/>
          <a:p>
            <a:pPr/>
            <a:r>
              <a:t>배치: 가용 데이터 전체로</a:t>
            </a:r>
          </a:p>
          <a:p>
            <a:pPr/>
            <a:r>
              <a:t>오프라인 학습이라고도 함</a:t>
            </a:r>
          </a:p>
          <a:p>
            <a:pPr/>
            <a:r>
              <a:t>온라인: 미니배치로 점진</a:t>
            </a:r>
          </a:p>
          <a:p>
            <a:pPr/>
            <a:r>
              <a:t>학습률 높으면 빨리 잊음</a:t>
            </a:r>
          </a:p>
          <a:p>
            <a:pPr/>
            <a:r>
              <a:t>모델 부패와 데이터 드리프트</a:t>
            </a:r>
          </a:p>
        </p:txBody>
      </p:sp>
      <p:sp>
        <p:nvSpPr>
          <p:cNvPr id="5" name="Text Placeholder 4"/>
          <p:cNvSpPr>
            <a:spLocks noGrp="1"/>
          </p:cNvSpPr>
          <p:nvPr>
            <p:ph type="body" idx="103"/>
          </p:nvPr>
        </p:nvSpPr>
        <p:spPr/>
        <p:txBody>
          <a:bodyPr/>
          <a:lstStyle/>
          <a:p>
            <a:r>
              <a:t>표 4. 두 학습 방식의 비교</a:t>
            </a:r>
          </a:p>
        </p:txBody>
      </p:sp>
      <p:graphicFrame>
        <p:nvGraphicFramePr>
          <p:cNvPr id="6" name="Table Placeholder 5"/>
          <p:cNvGraphicFramePr>
            <a:graphicFrameLocks noGrp="1"/>
          </p:cNvGraphicFramePr>
          <p:nvPr>
            <p:ph type="tbl" idx="104"/>
          </p:nvPr>
        </p:nvGraphicFramePr>
        <p:xfrm>
          <a:off x="4937760" y="1828800"/>
          <a:ext cx="6565392" cy="2311400"/>
        </p:xfrm>
        <a:graphic>
          <a:graphicData uri="http://schemas.openxmlformats.org/drawingml/2006/table">
            <a:tbl>
              <a:tblPr firstRow="0" bandRow="0" firstCol="0" lastRow="0" lastCol="0" bandCol="0"/>
              <a:tblGrid>
                <a:gridCol w="2188464"/>
                <a:gridCol w="2188464"/>
                <a:gridCol w="2188464"/>
              </a:tblGrid>
              <a:tr h="406400">
                <a:tc>
                  <a:txBody>
                    <a:bodyPr/>
                    <a:lstStyle/>
                    <a:p>
                      <a:r>
                        <a:rPr sz="1300" b="0">
                          <a:solidFill>
                            <a:srgbClr val="FFFFFF"/>
                          </a:solidFill>
                          <a:latin typeface="Pretendard Medium"/>
                        </a:rPr>
                        <a:t>항목</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배치 학습</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온라인 학습</a:t>
                      </a:r>
                    </a:p>
                  </a:txBody>
                  <a:tcPr marL="101600" marR="101600" marT="76200" marB="76200" anchor="ctr">
                    <a:solidFill>
                      <a:srgbClr val="000000"/>
                    </a:solidFill>
                    <a:lnL w="0">
                      <a:noFill/>
                    </a:lnL>
                    <a:lnR w="0">
                      <a:noFill/>
                    </a:lnR>
                    <a:lnT w="0">
                      <a:noFill/>
                    </a:lnT>
                    <a:lnB w="0">
                      <a:noFill/>
                    </a:lnB>
                  </a:tcPr>
                </a:tc>
              </a:tr>
              <a:tr h="635000">
                <a:tc>
                  <a:txBody>
                    <a:bodyPr/>
                    <a:lstStyle/>
                    <a:p>
                      <a:r>
                        <a:rPr sz="1300" b="1">
                          <a:solidFill>
                            <a:srgbClr val="000000"/>
                          </a:solidFill>
                          <a:latin typeface="Pretendard"/>
                        </a:rPr>
                        <a:t>훈련</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전체를 한 번에</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미니배치 순차</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갱신</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재훈련 후 배포</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도착하는 대로</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자원</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시간·계산량 큼</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적은 메모리</a:t>
                      </a:r>
                    </a:p>
                  </a:txBody>
                  <a:tcPr marL="101600" marR="101600" marT="101600" marB="101600" anchor="ctr">
                    <a:solidFill>
                      <a:srgbClr val="FFFFFF"/>
                    </a:solidFill>
                    <a:lnL w="0">
                      <a:noFill/>
                    </a:lnL>
                    <a:lnR w="0">
                      <a:noFill/>
                    </a:lnR>
                    <a:lnT w="0">
                      <a:noFill/>
                    </a:lnT>
                    <a:lnB w="9525">
                      <a:solidFill>
                        <a:srgbClr val="E2E2E2"/>
                      </a:solidFill>
                    </a:lnB>
                  </a:tcPr>
                </a:tc>
              </a:tr>
            </a:tbl>
          </a:graphicData>
        </a:graphic>
      </p:graphicFrame>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1008</a:t>
            </a:fld>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2.5 사례 기반 학습과 모델 기반 학습</a:t>
            </a:r>
          </a:p>
        </p:txBody>
      </p:sp>
      <p:sp>
        <p:nvSpPr>
          <p:cNvPr id="3" name="Text Placeholder 2"/>
          <p:cNvSpPr>
            <a:spLocks noGrp="1"/>
          </p:cNvSpPr>
          <p:nvPr>
            <p:ph type="body" idx="101"/>
          </p:nvPr>
        </p:nvSpPr>
        <p:spPr/>
        <p:txBody>
          <a:bodyPr/>
          <a:lstStyle/>
          <a:p>
            <a:r>
              <a:t>2. 머신러닝 시스템의 종류</a:t>
            </a:r>
          </a:p>
        </p:txBody>
      </p:sp>
      <p:sp>
        <p:nvSpPr>
          <p:cNvPr id="4" name="Text Placeholder 3"/>
          <p:cNvSpPr>
            <a:spLocks noGrp="1"/>
          </p:cNvSpPr>
          <p:nvPr>
            <p:ph type="body" idx="102"/>
          </p:nvPr>
        </p:nvSpPr>
        <p:spPr/>
        <p:txBody>
          <a:bodyPr/>
          <a:lstStyle/>
          <a:p>
            <a:pPr/>
            <a:r>
              <a:t>사례 기반: 샘플을 기억</a:t>
            </a:r>
          </a:p>
          <a:p>
            <a:pPr/>
            <a:r>
              <a:t>유사도를 측정해 일반화</a:t>
            </a:r>
          </a:p>
          <a:p>
            <a:pPr/>
            <a:r>
              <a:t>모델 기반: 모델을 만들어 예측</a:t>
            </a:r>
          </a:p>
          <a:p>
            <a:pPr/>
            <a:r>
              <a:t>비용 함수를 최소화</a:t>
            </a:r>
          </a:p>
          <a:p>
            <a:pPr/>
            <a:r>
              <a:t>교재 예: 삶의 만족도</a:t>
            </a:r>
          </a:p>
        </p:txBody>
      </p:sp>
      <p:sp>
        <p:nvSpPr>
          <p:cNvPr id="5" name="Text Placeholder 4"/>
          <p:cNvSpPr>
            <a:spLocks noGrp="1"/>
          </p:cNvSpPr>
          <p:nvPr>
            <p:ph type="body" idx="103"/>
          </p:nvPr>
        </p:nvSpPr>
        <p:spPr/>
        <p:txBody>
          <a:bodyPr/>
          <a:lstStyle/>
          <a:p>
            <a:r>
              <a:rPr b="1"/>
              <a:t>import</a:t>
            </a:r>
            <a:r>
              <a:t> pandas </a:t>
            </a:r>
            <a:r>
              <a:rPr b="1"/>
              <a:t>as</a:t>
            </a:r>
            <a:r>
              <a:t> pd</a:t>
            </a:r>
          </a:p>
          <a:p>
            <a:r>
              <a:rPr b="1"/>
              <a:t>from</a:t>
            </a:r>
            <a:r>
              <a:t> sklearn.linear_model </a:t>
            </a:r>
            <a:r>
              <a:rPr b="1"/>
              <a:t>import</a:t>
            </a:r>
            <a:r>
              <a:t> LinearRegression</a:t>
            </a:r>
          </a:p>
          <a:p>
            <a:r>
              <a:rPr b="1"/>
              <a:t>from</a:t>
            </a:r>
            <a:r>
              <a:t> sklearn.neighbors </a:t>
            </a:r>
            <a:r>
              <a:rPr b="1"/>
              <a:t>import</a:t>
            </a:r>
            <a:r>
              <a:t> KNeighborsRegressor</a:t>
            </a:r>
          </a:p>
          <a:p/>
          <a:p>
            <a:r>
              <a:t>lifesat = pd.read_csv("lifesat.csv")</a:t>
            </a:r>
          </a:p>
          <a:p>
            <a:r>
              <a:t>X = lifesat[["GDP per capita (USD)"]].values</a:t>
            </a:r>
          </a:p>
          <a:p>
            <a:r>
              <a:t>y = lifesat[["Life satisfaction"]].values</a:t>
            </a:r>
          </a:p>
          <a:p/>
          <a:p>
            <a:r>
              <a:t>model = LinearRegression()           </a:t>
            </a:r>
            <a:r>
              <a:rPr>
                <a:solidFill>
                  <a:srgbClr val="5E5E5E"/>
                </a:solidFill>
              </a:rPr>
              <a:t># 모델 기반</a:t>
            </a:r>
          </a:p>
          <a:p>
            <a:r>
              <a:t>model.fit(X, y)</a:t>
            </a:r>
          </a:p>
          <a:p>
            <a:r>
              <a:rPr b="1"/>
              <a:t>print</a:t>
            </a:r>
            <a:r>
              <a:t>(model.predict([[37_655.2]]))   </a:t>
            </a:r>
            <a:r>
              <a:rPr>
                <a:solidFill>
                  <a:srgbClr val="5E5E5E"/>
                </a:solidFill>
              </a:rPr>
              <a:t># (결과) [[6.30]]</a:t>
            </a:r>
          </a:p>
          <a:p/>
          <a:p>
            <a:r>
              <a:t>model = KNeighborsRegressor(n_neighbors=3)   </a:t>
            </a:r>
            <a:r>
              <a:rPr>
                <a:solidFill>
                  <a:srgbClr val="5E5E5E"/>
                </a:solidFill>
              </a:rPr>
              <a:t># 사례 기반</a:t>
            </a:r>
          </a:p>
          <a:p>
            <a:r>
              <a:t>model.fit(X, y)</a:t>
            </a:r>
          </a:p>
          <a:p>
            <a:r>
              <a:rPr b="1"/>
              <a:t>print</a:t>
            </a:r>
            <a:r>
              <a:t>(model.predict([[37_655.2]]))   </a:t>
            </a:r>
            <a:r>
              <a:rPr>
                <a:solidFill>
                  <a:srgbClr val="5E5E5E"/>
                </a:solidFill>
              </a:rPr>
              <a:t># (결과) [[6.33]]</a:t>
            </a:r>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1009</a:t>
            </a:fld>
            <a:endParaRPr lang="en-US"/>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03</a:t>
            </a:r>
          </a:p>
        </p:txBody>
      </p:sp>
      <p:sp>
        <p:nvSpPr>
          <p:cNvPr id="3" name="Title 2"/>
          <p:cNvSpPr>
            <a:spLocks noGrp="1"/>
          </p:cNvSpPr>
          <p:nvPr>
            <p:ph type="title" idx="101"/>
          </p:nvPr>
        </p:nvSpPr>
        <p:spPr/>
        <p:txBody>
          <a:bodyPr/>
          <a:lstStyle/>
          <a:p>
            <a:r>
              <a:t>머신러닝의 주요 도전 과제</a:t>
            </a:r>
          </a:p>
        </p:txBody>
      </p:sp>
      <p:sp>
        <p:nvSpPr>
          <p:cNvPr id="4" name="Text Placeholder 3"/>
          <p:cNvSpPr>
            <a:spLocks noGrp="1"/>
          </p:cNvSpPr>
          <p:nvPr>
            <p:ph type="body" idx="102"/>
          </p:nvPr>
        </p:nvSpPr>
        <p:spPr/>
        <p:txBody>
          <a:bodyPr/>
          <a:lstStyle/>
          <a:p>
            <a:pPr>
              <a:spcAft>
                <a:spcPts val="1000"/>
              </a:spcAft>
            </a:pPr>
            <a:r>
              <a:rPr>
                <a:solidFill>
                  <a:srgbClr val="AFAFAF"/>
                </a:solidFill>
              </a:rPr>
              <a:t>3.1  </a:t>
            </a:r>
            <a:r>
              <a:t>나쁜 데이터 — 양과 대표성</a:t>
            </a:r>
          </a:p>
          <a:p>
            <a:pPr>
              <a:spcAft>
                <a:spcPts val="1000"/>
              </a:spcAft>
            </a:pPr>
            <a:r>
              <a:rPr>
                <a:solidFill>
                  <a:srgbClr val="AFAFAF"/>
                </a:solidFill>
              </a:rPr>
              <a:t>3.2  </a:t>
            </a:r>
            <a:r>
              <a:t>나쁜 데이터 — 품질과 특성</a:t>
            </a:r>
          </a:p>
          <a:p>
            <a:pPr>
              <a:spcAft>
                <a:spcPts val="1000"/>
              </a:spcAft>
            </a:pPr>
            <a:r>
              <a:rPr>
                <a:solidFill>
                  <a:srgbClr val="AFAFAF"/>
                </a:solidFill>
              </a:rPr>
              <a:t>3.3  </a:t>
            </a:r>
            <a:r>
              <a:t>훈련 데이터 과대적합</a:t>
            </a:r>
          </a:p>
          <a:p>
            <a:pPr>
              <a:spcAft>
                <a:spcPts val="1000"/>
              </a:spcAft>
            </a:pPr>
            <a:r>
              <a:rPr>
                <a:solidFill>
                  <a:srgbClr val="AFAFAF"/>
                </a:solidFill>
              </a:rPr>
              <a:t>3.4  </a:t>
            </a:r>
            <a:r>
              <a:t>훈련 데이터 과소적합</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3.1 나쁜 데이터 — 양과 대표성</a:t>
            </a:r>
          </a:p>
        </p:txBody>
      </p:sp>
      <p:sp>
        <p:nvSpPr>
          <p:cNvPr id="3" name="Text Placeholder 2"/>
          <p:cNvSpPr>
            <a:spLocks noGrp="1"/>
          </p:cNvSpPr>
          <p:nvPr>
            <p:ph type="body" idx="101"/>
          </p:nvPr>
        </p:nvSpPr>
        <p:spPr/>
        <p:txBody>
          <a:bodyPr/>
          <a:lstStyle/>
          <a:p>
            <a:r>
              <a:t>3. 머신러닝의 주요 도전 과제</a:t>
            </a:r>
          </a:p>
        </p:txBody>
      </p:sp>
      <p:sp>
        <p:nvSpPr>
          <p:cNvPr id="4" name="Text Placeholder 3"/>
          <p:cNvSpPr>
            <a:spLocks noGrp="1"/>
          </p:cNvSpPr>
          <p:nvPr>
            <p:ph type="body" idx="102"/>
          </p:nvPr>
        </p:nvSpPr>
        <p:spPr/>
        <p:txBody>
          <a:bodyPr/>
          <a:lstStyle/>
          <a:p>
            <a:pPr/>
            <a:r>
              <a:t>문제가 될 수 있는 것은 나쁜 데이터와 나쁜 모델</a:t>
            </a:r>
          </a:p>
          <a:p>
            <a:pPr/>
            <a:r>
              <a:rPr b="1">
                <a:latin typeface="Pretendard"/>
              </a:rPr>
              <a:t>충분하지 않은 양</a:t>
            </a:r>
            <a:r>
              <a:t> — 간단한 문제도 수천 개</a:t>
            </a:r>
          </a:p>
          <a:p>
            <a:pPr/>
            <a:r>
              <a:rPr b="1">
                <a:latin typeface="Pretendard"/>
              </a:rPr>
              <a:t>대표성 없는 훈련 데이터</a:t>
            </a:r>
          </a:p>
          <a:p>
            <a:pPr lvl="1"/>
            <a:r>
              <a:t>샘플링 잡음 — 샘플이 작아 생기는 우연</a:t>
            </a:r>
          </a:p>
          <a:p>
            <a:pPr lvl="1"/>
            <a:r>
              <a:t>샘플링 편향 — 추출 방법이 잘못된 경우</a:t>
            </a:r>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1004</a:t>
            </a:fld>
            <a:endParaRPr lang="en-US"/>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3.2 나쁜 데이터 — 품질과 특성</a:t>
            </a:r>
          </a:p>
        </p:txBody>
      </p:sp>
      <p:sp>
        <p:nvSpPr>
          <p:cNvPr id="3" name="Text Placeholder 2"/>
          <p:cNvSpPr>
            <a:spLocks noGrp="1"/>
          </p:cNvSpPr>
          <p:nvPr>
            <p:ph type="body" idx="101"/>
          </p:nvPr>
        </p:nvSpPr>
        <p:spPr/>
        <p:txBody>
          <a:bodyPr/>
          <a:lstStyle/>
          <a:p>
            <a:r>
              <a:t>3. 머신러닝의 주요 도전 과제</a:t>
            </a:r>
          </a:p>
        </p:txBody>
      </p:sp>
      <p:sp>
        <p:nvSpPr>
          <p:cNvPr id="4" name="Text Placeholder 3"/>
          <p:cNvSpPr>
            <a:spLocks noGrp="1"/>
          </p:cNvSpPr>
          <p:nvPr>
            <p:ph type="body" idx="102"/>
          </p:nvPr>
        </p:nvSpPr>
        <p:spPr/>
        <p:txBody>
          <a:bodyPr/>
          <a:lstStyle/>
          <a:p>
            <a:pPr/>
            <a:r>
              <a:rPr b="1">
                <a:latin typeface="Pretendard"/>
              </a:rPr>
              <a:t>낮은 품질의 데이터</a:t>
            </a:r>
            <a:r>
              <a:t> — 오류·이상치·잡음의 정제</a:t>
            </a:r>
          </a:p>
          <a:p>
            <a:pPr lvl="1"/>
            <a:r>
              <a:t>이상치는 제거하거나 수정</a:t>
            </a:r>
          </a:p>
          <a:p>
            <a:pPr lvl="1"/>
            <a:r>
              <a:t>결측은 제외·대체·분리 학습 중 선택</a:t>
            </a:r>
          </a:p>
          <a:p>
            <a:pPr/>
            <a:r>
              <a:rPr b="1">
                <a:latin typeface="Pretendard"/>
              </a:rPr>
              <a:t>관련없는 특성</a:t>
            </a:r>
            <a:r>
              <a:t> — 특성 공학으로 대응</a:t>
            </a:r>
          </a:p>
          <a:p>
            <a:pPr lvl="1"/>
            <a:r>
              <a:t>특성 선택, 특성 추출, 새 데이터 수집</a:t>
            </a:r>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1004</a:t>
            </a:fld>
            <a:endParaRPr lang="en-US"/>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3.3 훈련 데이터 과대적합</a:t>
            </a:r>
          </a:p>
        </p:txBody>
      </p:sp>
      <p:sp>
        <p:nvSpPr>
          <p:cNvPr id="3" name="Text Placeholder 2"/>
          <p:cNvSpPr>
            <a:spLocks noGrp="1"/>
          </p:cNvSpPr>
          <p:nvPr>
            <p:ph type="body" idx="101"/>
          </p:nvPr>
        </p:nvSpPr>
        <p:spPr/>
        <p:txBody>
          <a:bodyPr/>
          <a:lstStyle/>
          <a:p>
            <a:r>
              <a:t>3. 머신러닝의 주요 도전 과제</a:t>
            </a:r>
          </a:p>
        </p:txBody>
      </p:sp>
      <p:sp>
        <p:nvSpPr>
          <p:cNvPr id="4" name="Text Placeholder 3"/>
          <p:cNvSpPr>
            <a:spLocks noGrp="1"/>
          </p:cNvSpPr>
          <p:nvPr>
            <p:ph type="body" idx="102"/>
          </p:nvPr>
        </p:nvSpPr>
        <p:spPr/>
        <p:txBody>
          <a:bodyPr/>
          <a:lstStyle/>
          <a:p>
            <a:pPr/>
            <a:r>
              <a:t>훈련에는 잘 맞고</a:t>
            </a:r>
          </a:p>
          <a:p>
            <a:pPr/>
            <a:r>
              <a:t>새 데이터에는 안 맞음</a:t>
            </a:r>
          </a:p>
          <a:p>
            <a:pPr/>
            <a:r>
              <a:t>잡음까지 학습한 결과</a:t>
            </a:r>
          </a:p>
          <a:p>
            <a:pPr/>
            <a:r>
              <a:t>규제로 자유도를 제한</a:t>
            </a:r>
          </a:p>
          <a:p>
            <a:pPr/>
            <a:r>
              <a:t>규제 양은 하이퍼파라미터</a:t>
            </a:r>
          </a:p>
        </p:txBody>
      </p:sp>
      <p:sp>
        <p:nvSpPr>
          <p:cNvPr id="6" name="Text Placeholder 5"/>
          <p:cNvSpPr>
            <a:spLocks noGrp="1"/>
          </p:cNvSpPr>
          <p:nvPr>
            <p:ph type="body" idx="104"/>
          </p:nvPr>
        </p:nvSpPr>
        <p:spPr/>
        <p:txBody>
          <a:bodyPr/>
          <a:lstStyle/>
          <a:p>
            <a:r>
              <a:t>그림 1. 모델 복잡도에 따른 과소적합과 과대적합</a:t>
            </a:r>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1005</a:t>
            </a:fld>
            <a:endParaRPr lang="en-US"/>
          </a:p>
        </p:txBody>
      </p:sp>
      <p:pic>
        <p:nvPicPr>
          <p:cNvPr id="26" name="Picture 25" descr="fig_fit.png"/>
          <p:cNvPicPr>
            <a:picLocks noChangeAspect="1"/>
          </p:cNvPicPr>
          <p:nvPr/>
        </p:nvPicPr>
        <p:blipFill>
          <a:blip r:embed="rId2"/>
          <a:stretch>
            <a:fillRect/>
          </a:stretch>
        </p:blipFill>
        <p:spPr>
          <a:xfrm>
            <a:off x="4937760" y="1417320"/>
            <a:ext cx="6565392" cy="4148963"/>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3.4 훈련 데이터 과소적합</a:t>
            </a:r>
          </a:p>
        </p:txBody>
      </p:sp>
      <p:sp>
        <p:nvSpPr>
          <p:cNvPr id="3" name="Text Placeholder 2"/>
          <p:cNvSpPr>
            <a:spLocks noGrp="1"/>
          </p:cNvSpPr>
          <p:nvPr>
            <p:ph type="body" idx="101"/>
          </p:nvPr>
        </p:nvSpPr>
        <p:spPr/>
        <p:txBody>
          <a:bodyPr/>
          <a:lstStyle/>
          <a:p>
            <a:r>
              <a:t>3. 머신러닝의 주요 도전 과제</a:t>
            </a:r>
          </a:p>
        </p:txBody>
      </p:sp>
      <p:sp>
        <p:nvSpPr>
          <p:cNvPr id="4" name="Text Placeholder 3"/>
          <p:cNvSpPr>
            <a:spLocks noGrp="1"/>
          </p:cNvSpPr>
          <p:nvPr>
            <p:ph type="body" idx="102"/>
          </p:nvPr>
        </p:nvSpPr>
        <p:spPr/>
        <p:txBody>
          <a:bodyPr/>
          <a:lstStyle/>
          <a:p>
            <a:pPr/>
            <a:r>
              <a:t>모델이 너무 단순함</a:t>
            </a:r>
          </a:p>
          <a:p>
            <a:pPr/>
            <a:r>
              <a:t>구조를 학습하지 못함</a:t>
            </a:r>
          </a:p>
          <a:p>
            <a:pPr/>
            <a:r>
              <a:t>대응은 과대적합의 반대</a:t>
            </a:r>
          </a:p>
          <a:p>
            <a:pPr/>
            <a:r>
              <a:t>강력한 모델, 나은 특성</a:t>
            </a:r>
          </a:p>
          <a:p>
            <a:pPr/>
            <a:r>
              <a:t>규제를 줄이기</a:t>
            </a:r>
          </a:p>
        </p:txBody>
      </p:sp>
      <p:sp>
        <p:nvSpPr>
          <p:cNvPr id="5" name="Text Placeholder 4"/>
          <p:cNvSpPr>
            <a:spLocks noGrp="1"/>
          </p:cNvSpPr>
          <p:nvPr>
            <p:ph type="body" idx="103"/>
          </p:nvPr>
        </p:nvSpPr>
        <p:spPr/>
        <p:txBody>
          <a:bodyPr/>
          <a:lstStyle/>
          <a:p>
            <a:r>
              <a:t>표 5. 훈련·검증 성능으로 보는 진단</a:t>
            </a:r>
          </a:p>
        </p:txBody>
      </p:sp>
      <p:graphicFrame>
        <p:nvGraphicFramePr>
          <p:cNvPr id="6" name="Table Placeholder 5"/>
          <p:cNvGraphicFramePr>
            <a:graphicFrameLocks noGrp="1"/>
          </p:cNvGraphicFramePr>
          <p:nvPr>
            <p:ph type="tbl" idx="104"/>
          </p:nvPr>
        </p:nvGraphicFramePr>
        <p:xfrm>
          <a:off x="4937760" y="1828800"/>
          <a:ext cx="6565392" cy="2311400"/>
        </p:xfrm>
        <a:graphic>
          <a:graphicData uri="http://schemas.openxmlformats.org/drawingml/2006/table">
            <a:tbl>
              <a:tblPr firstRow="0" bandRow="0" firstCol="0" lastRow="0" lastCol="0" bandCol="0"/>
              <a:tblGrid>
                <a:gridCol w="1641348"/>
                <a:gridCol w="1641348"/>
                <a:gridCol w="1641348"/>
                <a:gridCol w="1641348"/>
              </a:tblGrid>
              <a:tr h="406400">
                <a:tc>
                  <a:txBody>
                    <a:bodyPr/>
                    <a:lstStyle/>
                    <a:p>
                      <a:r>
                        <a:rPr sz="1300" b="0">
                          <a:solidFill>
                            <a:srgbClr val="FFFFFF"/>
                          </a:solidFill>
                          <a:latin typeface="Pretendard Medium"/>
                        </a:rPr>
                        <a:t>상태</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훈련</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검증</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대응</a:t>
                      </a:r>
                    </a:p>
                  </a:txBody>
                  <a:tcPr marL="101600" marR="101600" marT="76200" marB="76200" anchor="ctr">
                    <a:solidFill>
                      <a:srgbClr val="000000"/>
                    </a:solidFill>
                    <a:lnL w="0">
                      <a:noFill/>
                    </a:lnL>
                    <a:lnR w="0">
                      <a:noFill/>
                    </a:lnR>
                    <a:lnT w="0">
                      <a:noFill/>
                    </a:lnT>
                    <a:lnB w="0">
                      <a:noFill/>
                    </a:lnB>
                  </a:tcPr>
                </a:tc>
              </a:tr>
              <a:tr h="635000">
                <a:tc>
                  <a:txBody>
                    <a:bodyPr/>
                    <a:lstStyle/>
                    <a:p>
                      <a:r>
                        <a:rPr sz="1300" b="1">
                          <a:solidFill>
                            <a:srgbClr val="000000"/>
                          </a:solidFill>
                          <a:latin typeface="Pretendard"/>
                        </a:rPr>
                        <a:t>과소적합</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낮음</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낮음</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복잡한 모델, 특성 개선</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적정</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높음</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높음</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최종 평가 진행</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과대적합</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매우 높음</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낮음</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규제, 단순화, 데이터 추가</a:t>
                      </a:r>
                    </a:p>
                  </a:txBody>
                  <a:tcPr marL="101600" marR="101600" marT="101600" marB="101600" anchor="ctr">
                    <a:solidFill>
                      <a:srgbClr val="FFFFFF"/>
                    </a:solidFill>
                    <a:lnL w="0">
                      <a:noFill/>
                    </a:lnL>
                    <a:lnR w="0">
                      <a:noFill/>
                    </a:lnR>
                    <a:lnT w="0">
                      <a:noFill/>
                    </a:lnT>
                    <a:lnB w="9525">
                      <a:solidFill>
                        <a:srgbClr val="E2E2E2"/>
                      </a:solidFill>
                    </a:lnB>
                  </a:tcPr>
                </a:tc>
              </a:tr>
            </a:tbl>
          </a:graphicData>
        </a:graphic>
      </p:graphicFrame>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1008</a:t>
            </a:fld>
            <a:endParaRPr lang="en-US"/>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04</a:t>
            </a:r>
          </a:p>
        </p:txBody>
      </p:sp>
      <p:sp>
        <p:nvSpPr>
          <p:cNvPr id="3" name="Title 2"/>
          <p:cNvSpPr>
            <a:spLocks noGrp="1"/>
          </p:cNvSpPr>
          <p:nvPr>
            <p:ph type="title" idx="101"/>
          </p:nvPr>
        </p:nvSpPr>
        <p:spPr/>
        <p:txBody>
          <a:bodyPr/>
          <a:lstStyle/>
          <a:p>
            <a:r>
              <a:t>테스트와 검증</a:t>
            </a:r>
          </a:p>
        </p:txBody>
      </p:sp>
      <p:sp>
        <p:nvSpPr>
          <p:cNvPr id="4" name="Text Placeholder 3"/>
          <p:cNvSpPr>
            <a:spLocks noGrp="1"/>
          </p:cNvSpPr>
          <p:nvPr>
            <p:ph type="body" idx="102"/>
          </p:nvPr>
        </p:nvSpPr>
        <p:spPr/>
        <p:txBody>
          <a:bodyPr/>
          <a:lstStyle/>
          <a:p>
            <a:pPr>
              <a:spcAft>
                <a:spcPts val="1000"/>
              </a:spcAft>
            </a:pPr>
            <a:r>
              <a:rPr>
                <a:solidFill>
                  <a:srgbClr val="AFAFAF"/>
                </a:solidFill>
              </a:rPr>
              <a:t>4.1  </a:t>
            </a:r>
            <a:r>
              <a:t>일반화 오차와 테스트 세트</a:t>
            </a:r>
          </a:p>
          <a:p>
            <a:pPr>
              <a:spcAft>
                <a:spcPts val="1000"/>
              </a:spcAft>
            </a:pPr>
            <a:r>
              <a:rPr>
                <a:solidFill>
                  <a:srgbClr val="AFAFAF"/>
                </a:solidFill>
              </a:rPr>
              <a:t>4.2  </a:t>
            </a:r>
            <a:r>
              <a:t>하이퍼파라미터 튜닝과 모델 선택</a:t>
            </a:r>
          </a:p>
          <a:p>
            <a:pPr>
              <a:spcAft>
                <a:spcPts val="1000"/>
              </a:spcAft>
            </a:pPr>
            <a:r>
              <a:rPr>
                <a:solidFill>
                  <a:srgbClr val="AFAFAF"/>
                </a:solidFill>
              </a:rPr>
              <a:t>4.3  </a:t>
            </a:r>
            <a:r>
              <a:t>데이터 불일치</a:t>
            </a:r>
          </a:p>
          <a:p>
            <a:pPr>
              <a:spcAft>
                <a:spcPts val="1000"/>
              </a:spcAft>
            </a:pPr>
            <a:r>
              <a:rPr>
                <a:solidFill>
                  <a:srgbClr val="AFAFAF"/>
                </a:solidFill>
              </a:rPr>
              <a:t>4.4  </a:t>
            </a:r>
            <a:r>
              <a:t>시간 순서 분할</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4.1 일반화 오차와 테스트 세트</a:t>
            </a:r>
          </a:p>
        </p:txBody>
      </p:sp>
      <p:sp>
        <p:nvSpPr>
          <p:cNvPr id="3" name="Text Placeholder 2"/>
          <p:cNvSpPr>
            <a:spLocks noGrp="1"/>
          </p:cNvSpPr>
          <p:nvPr>
            <p:ph type="body" idx="101"/>
          </p:nvPr>
        </p:nvSpPr>
        <p:spPr/>
        <p:txBody>
          <a:bodyPr/>
          <a:lstStyle/>
          <a:p>
            <a:r>
              <a:t>4. 테스트와 검증</a:t>
            </a:r>
          </a:p>
        </p:txBody>
      </p:sp>
      <p:sp>
        <p:nvSpPr>
          <p:cNvPr id="4" name="Text Placeholder 3"/>
          <p:cNvSpPr>
            <a:spLocks noGrp="1"/>
          </p:cNvSpPr>
          <p:nvPr>
            <p:ph type="body" idx="102"/>
          </p:nvPr>
        </p:nvSpPr>
        <p:spPr/>
        <p:txBody>
          <a:bodyPr/>
          <a:lstStyle/>
          <a:p>
            <a:pPr/>
            <a:r>
              <a:t>새 샘플에 실제로 적용해야 일반화를 알 수 있음</a:t>
            </a:r>
          </a:p>
          <a:p>
            <a:pPr/>
            <a:r>
              <a:rPr b="1">
                <a:latin typeface="Pretendard"/>
              </a:rPr>
              <a:t>일반화 오차</a:t>
            </a:r>
            <a:r>
              <a:t> — 새 샘플에 대한 오차 비율</a:t>
            </a:r>
          </a:p>
          <a:p>
            <a:pPr lvl="1"/>
            <a:r>
              <a:t>외부 샘플 오차라고도 부름</a:t>
            </a:r>
          </a:p>
          <a:p>
            <a:pPr/>
            <a:r>
              <a:t>훈련 오차가 작은데 일반화 오차가 크면 과대적합</a:t>
            </a:r>
          </a:p>
          <a:p>
            <a:pPr/>
            <a:r>
              <a:t>관례는 훈련 80% · 테스트 20% — 크면 비율을 낮춤</a:t>
            </a:r>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1004</a:t>
            </a:fld>
            <a:endParaRPr lang="en-US"/>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4.2 하이퍼파라미터 튜닝과 모델 선택</a:t>
            </a:r>
          </a:p>
        </p:txBody>
      </p:sp>
      <p:sp>
        <p:nvSpPr>
          <p:cNvPr id="3" name="Text Placeholder 2"/>
          <p:cNvSpPr>
            <a:spLocks noGrp="1"/>
          </p:cNvSpPr>
          <p:nvPr>
            <p:ph type="body" idx="101"/>
          </p:nvPr>
        </p:nvSpPr>
        <p:spPr/>
        <p:txBody>
          <a:bodyPr/>
          <a:lstStyle/>
          <a:p>
            <a:r>
              <a:t>4. 테스트와 검증</a:t>
            </a:r>
          </a:p>
        </p:txBody>
      </p:sp>
      <p:sp>
        <p:nvSpPr>
          <p:cNvPr id="4" name="Text Placeholder 3"/>
          <p:cNvSpPr>
            <a:spLocks noGrp="1"/>
          </p:cNvSpPr>
          <p:nvPr>
            <p:ph type="body" idx="102"/>
          </p:nvPr>
        </p:nvSpPr>
        <p:spPr/>
        <p:txBody>
          <a:bodyPr/>
          <a:lstStyle/>
          <a:p>
            <a:pPr/>
            <a:r>
              <a:t>테스트로 모델을 고르면 테스트에 최적화됨</a:t>
            </a:r>
          </a:p>
          <a:p>
            <a:pPr/>
            <a:r>
              <a:rPr b="1">
                <a:latin typeface="Pretendard"/>
              </a:rPr>
              <a:t>홀드아웃 검증</a:t>
            </a:r>
            <a:r>
              <a:t> — 검증 세트를 떼어 후보 비교</a:t>
            </a:r>
          </a:p>
          <a:p>
            <a:pPr lvl="1"/>
            <a:r>
              <a:t>개발 세트·데브 세트라고도 부름</a:t>
            </a:r>
          </a:p>
          <a:p>
            <a:pPr/>
            <a:r>
              <a:t>검증 세트가 작으면 잘못 고르고, 크면 훈련이 줄어듦</a:t>
            </a:r>
          </a:p>
          <a:p>
            <a:pPr/>
            <a:r>
              <a:rPr b="1">
                <a:latin typeface="Pretendard"/>
              </a:rPr>
              <a:t>교차 검증</a:t>
            </a:r>
            <a:r>
              <a:t> — 작은 검증 세트를 여러 개로 반복</a:t>
            </a:r>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1004</a:t>
            </a:fld>
            <a:endParaRPr lang="en-US"/>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4.3 데이터 불일치</a:t>
            </a:r>
          </a:p>
        </p:txBody>
      </p:sp>
      <p:sp>
        <p:nvSpPr>
          <p:cNvPr id="3" name="Text Placeholder 2"/>
          <p:cNvSpPr>
            <a:spLocks noGrp="1"/>
          </p:cNvSpPr>
          <p:nvPr>
            <p:ph type="body" idx="101"/>
          </p:nvPr>
        </p:nvSpPr>
        <p:spPr/>
        <p:txBody>
          <a:bodyPr/>
          <a:lstStyle/>
          <a:p>
            <a:r>
              <a:t>4. 테스트와 검증</a:t>
            </a:r>
          </a:p>
        </p:txBody>
      </p:sp>
      <p:sp>
        <p:nvSpPr>
          <p:cNvPr id="4" name="Text Placeholder 3"/>
          <p:cNvSpPr>
            <a:spLocks noGrp="1"/>
          </p:cNvSpPr>
          <p:nvPr>
            <p:ph type="body" idx="102"/>
          </p:nvPr>
        </p:nvSpPr>
        <p:spPr/>
        <p:txBody>
          <a:bodyPr/>
          <a:lstStyle/>
          <a:p>
            <a:pPr/>
            <a:r>
              <a:t>훈련 데이터가 실제 데이터를 대표하지 못하는 경우</a:t>
            </a:r>
          </a:p>
          <a:p>
            <a:pPr/>
            <a:r>
              <a:t>검증 세트와 테스트 세트는 실전 데이터로만 구성</a:t>
            </a:r>
          </a:p>
          <a:p>
            <a:pPr/>
            <a:r>
              <a:rPr b="1">
                <a:latin typeface="Pretendard"/>
              </a:rPr>
              <a:t>훈련-개발 세트</a:t>
            </a:r>
            <a:r>
              <a:t> — 훈련 데이터 일부를 떼어 진단</a:t>
            </a:r>
          </a:p>
          <a:p>
            <a:pPr lvl="1"/>
            <a:r>
              <a:t>훈련-개발에서 나쁘면 과대적합</a:t>
            </a:r>
          </a:p>
          <a:p>
            <a:pPr lvl="1"/>
            <a:r>
              <a:t>훈련-개발은 좋은데 검증이 나쁘면 데이터 불일치</a:t>
            </a:r>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1004</a:t>
            </a:fld>
            <a:endParaRPr lang="en-US"/>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4.4 시간 순서 분할</a:t>
            </a:r>
          </a:p>
        </p:txBody>
      </p:sp>
      <p:sp>
        <p:nvSpPr>
          <p:cNvPr id="3" name="Text Placeholder 2"/>
          <p:cNvSpPr>
            <a:spLocks noGrp="1"/>
          </p:cNvSpPr>
          <p:nvPr>
            <p:ph type="body" idx="101"/>
          </p:nvPr>
        </p:nvSpPr>
        <p:spPr/>
        <p:txBody>
          <a:bodyPr/>
          <a:lstStyle/>
          <a:p>
            <a:r>
              <a:t>4. 테스트와 검증</a:t>
            </a:r>
          </a:p>
        </p:txBody>
      </p:sp>
      <p:sp>
        <p:nvSpPr>
          <p:cNvPr id="4" name="Text Placeholder 3"/>
          <p:cNvSpPr>
            <a:spLocks noGrp="1"/>
          </p:cNvSpPr>
          <p:nvPr>
            <p:ph type="body" idx="102"/>
          </p:nvPr>
        </p:nvSpPr>
        <p:spPr/>
        <p:txBody>
          <a:bodyPr/>
          <a:lstStyle/>
          <a:p>
            <a:pPr/>
            <a:r>
              <a:t>무작위 분할은 시기가 섞임</a:t>
            </a:r>
          </a:p>
          <a:p>
            <a:pPr/>
            <a:r>
              <a:t>미래가 훈련에 들어감</a:t>
            </a:r>
          </a:p>
          <a:p>
            <a:pPr/>
            <a:r>
              <a:t>시간 순서는 과거로 학습</a:t>
            </a:r>
          </a:p>
          <a:p>
            <a:pPr/>
            <a:r>
              <a:t>미래 구간으로 평가</a:t>
            </a:r>
          </a:p>
          <a:p>
            <a:pPr/>
            <a:r>
              <a:t>교재 밖 · 이 수업의 보강</a:t>
            </a:r>
          </a:p>
        </p:txBody>
      </p:sp>
      <p:sp>
        <p:nvSpPr>
          <p:cNvPr id="6" name="Text Placeholder 5"/>
          <p:cNvSpPr>
            <a:spLocks noGrp="1"/>
          </p:cNvSpPr>
          <p:nvPr>
            <p:ph type="body" idx="104"/>
          </p:nvPr>
        </p:nvSpPr>
        <p:spPr/>
        <p:txBody>
          <a:bodyPr/>
          <a:lstStyle/>
          <a:p>
            <a:r>
              <a:t>그림 2. 시간 순서 분할과 무작위 분할의 구조 차이</a:t>
            </a:r>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1005</a:t>
            </a:fld>
            <a:endParaRPr lang="en-US"/>
          </a:p>
        </p:txBody>
      </p:sp>
      <p:pic>
        <p:nvPicPr>
          <p:cNvPr id="26" name="Picture 25" descr="fig_split.png"/>
          <p:cNvPicPr>
            <a:picLocks noChangeAspect="1"/>
          </p:cNvPicPr>
          <p:nvPr/>
        </p:nvPicPr>
        <p:blipFill>
          <a:blip r:embed="rId2"/>
          <a:stretch>
            <a:fillRect/>
          </a:stretch>
        </p:blipFill>
        <p:spPr>
          <a:xfrm>
            <a:off x="4937760" y="1417320"/>
            <a:ext cx="6565392" cy="4148963"/>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05</a:t>
            </a:r>
          </a:p>
        </p:txBody>
      </p:sp>
      <p:sp>
        <p:nvSpPr>
          <p:cNvPr id="3" name="Title 2"/>
          <p:cNvSpPr>
            <a:spLocks noGrp="1"/>
          </p:cNvSpPr>
          <p:nvPr>
            <p:ph type="title" idx="101"/>
          </p:nvPr>
        </p:nvSpPr>
        <p:spPr/>
        <p:txBody>
          <a:bodyPr/>
          <a:lstStyle/>
          <a:p>
            <a:r>
              <a:t>정리</a:t>
            </a:r>
          </a:p>
        </p:txBody>
      </p:sp>
      <p:sp>
        <p:nvSpPr>
          <p:cNvPr id="4" name="Text Placeholder 3"/>
          <p:cNvSpPr>
            <a:spLocks noGrp="1"/>
          </p:cNvSpPr>
          <p:nvPr>
            <p:ph type="body" idx="102"/>
          </p:nvPr>
        </p:nvSpPr>
        <p:spPr/>
        <p:txBody>
          <a:bodyPr/>
          <a:lstStyle/>
          <a:p>
            <a:pPr>
              <a:spcAft>
                <a:spcPts val="1000"/>
              </a:spcAft>
            </a:pPr>
            <a:r>
              <a:rPr>
                <a:solidFill>
                  <a:srgbClr val="AFAFAF"/>
                </a:solidFill>
              </a:rPr>
              <a:t>5.1  </a:t>
            </a:r>
            <a:r>
              <a:t>오늘의 요약</a:t>
            </a:r>
          </a:p>
          <a:p>
            <a:pPr>
              <a:spcAft>
                <a:spcPts val="1000"/>
              </a:spcAft>
            </a:pPr>
            <a:r>
              <a:rPr>
                <a:solidFill>
                  <a:srgbClr val="AFAFAF"/>
                </a:solidFill>
              </a:rPr>
              <a:t>5.2  </a:t>
            </a:r>
            <a:r>
              <a:t>이번 주 할 일</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5.1 오늘의 요약</a:t>
            </a:r>
          </a:p>
        </p:txBody>
      </p:sp>
      <p:sp>
        <p:nvSpPr>
          <p:cNvPr id="3" name="Text Placeholder 2"/>
          <p:cNvSpPr>
            <a:spLocks noGrp="1"/>
          </p:cNvSpPr>
          <p:nvPr>
            <p:ph type="body" idx="101"/>
          </p:nvPr>
        </p:nvSpPr>
        <p:spPr/>
        <p:txBody>
          <a:bodyPr/>
          <a:lstStyle/>
          <a:p>
            <a:r>
              <a:t>5. 정리</a:t>
            </a:r>
          </a:p>
        </p:txBody>
      </p:sp>
      <p:sp>
        <p:nvSpPr>
          <p:cNvPr id="4" name="Text Placeholder 3"/>
          <p:cNvSpPr>
            <a:spLocks noGrp="1"/>
          </p:cNvSpPr>
          <p:nvPr>
            <p:ph type="body" idx="102"/>
          </p:nvPr>
        </p:nvSpPr>
        <p:spPr/>
        <p:txBody>
          <a:bodyPr/>
          <a:lstStyle/>
          <a:p>
            <a:pPr/>
            <a:r>
              <a:t>머신러닝은 규칙을 코딩하지 않고 데이터에서 학습하는 것</a:t>
            </a:r>
          </a:p>
          <a:p>
            <a:pPr/>
            <a:r>
              <a:t>시스템은 세 기준의 조합 — 지도 방식, 학습 시점, 일반화 방식</a:t>
            </a:r>
          </a:p>
          <a:p>
            <a:pPr/>
            <a:r>
              <a:t>훈련 세트가 작거나 대표성이 없거나 잡음이 많으면 실패</a:t>
            </a:r>
          </a:p>
          <a:p>
            <a:pPr/>
            <a:r>
              <a:t>모델은 너무 단순해도, 너무 복잡해도 안 됨</a:t>
            </a:r>
          </a:p>
          <a:p>
            <a:pPr/>
            <a:r>
              <a:t>일반화 성능은 새 데이터로만 확인 — 훈련·검증·테스트의 분리</a:t>
            </a:r>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1004</a:t>
            </a:fld>
            <a:endParaRPr lang="en-US"/>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5.2 이번 주 할 일</a:t>
            </a:r>
          </a:p>
        </p:txBody>
      </p:sp>
      <p:sp>
        <p:nvSpPr>
          <p:cNvPr id="3" name="Text Placeholder 2"/>
          <p:cNvSpPr>
            <a:spLocks noGrp="1"/>
          </p:cNvSpPr>
          <p:nvPr>
            <p:ph type="body" idx="101"/>
          </p:nvPr>
        </p:nvSpPr>
        <p:spPr/>
        <p:txBody>
          <a:bodyPr/>
          <a:lstStyle/>
          <a:p>
            <a:r>
              <a:t>5. 정리</a:t>
            </a:r>
          </a:p>
        </p:txBody>
      </p:sp>
      <p:sp>
        <p:nvSpPr>
          <p:cNvPr id="4" name="Text Placeholder 3"/>
          <p:cNvSpPr>
            <a:spLocks noGrp="1"/>
          </p:cNvSpPr>
          <p:nvPr>
            <p:ph type="body" idx="102"/>
          </p:nvPr>
        </p:nvSpPr>
        <p:spPr/>
        <p:txBody>
          <a:bodyPr/>
          <a:lstStyle/>
          <a:p>
            <a:pPr/>
            <a:r>
              <a:t>수요일 실습: 09-09 12:00, AI공학관 210호</a:t>
            </a:r>
          </a:p>
          <a:p>
            <a:pPr lvl="1"/>
            <a:r>
              <a:t>GitHub 계정과 AI 코딩 도구 설치, 노트북 지참</a:t>
            </a:r>
          </a:p>
          <a:p>
            <a:pPr/>
            <a:r>
              <a:t>교재 1장 읽기 — 연습문제는 선택</a:t>
            </a:r>
          </a:p>
          <a:p>
            <a:pPr/>
            <a:r>
              <a:t>공식 노트북 실행 — 01_the_machine_learning_landscape.ipynb</a:t>
            </a:r>
          </a:p>
          <a:p>
            <a:pPr/>
            <a:r>
              <a:t>다음 주: 머신러닝 프로젝트 처음부터 끝까지 (핸즈온 Ch2)</a:t>
            </a:r>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1004</a:t>
            </a:fld>
            <a:endParaRPr lang="en-US"/>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감사합니다</a:t>
            </a:r>
          </a:p>
        </p:txBody>
      </p:sp>
      <p:sp>
        <p:nvSpPr>
          <p:cNvPr id="3" name="Text Placeholder 2"/>
          <p:cNvSpPr>
            <a:spLocks noGrp="1"/>
          </p:cNvSpPr>
          <p:nvPr>
            <p:ph type="body" idx="101"/>
          </p:nvPr>
        </p:nvSpPr>
        <p:spPr/>
        <p:txBody>
          <a:bodyPr/>
          <a:lstStyle/>
          <a:p>
            <a:r>
              <a:t>다음 주 — 머신러닝 프로젝트 처음부터 끝까지 (핸즈온 Ch2)</a:t>
            </a:r>
          </a:p>
        </p:txBody>
      </p:sp>
      <p:sp>
        <p:nvSpPr>
          <p:cNvPr id="4" name="Text Placeholder 3"/>
          <p:cNvSpPr>
            <a:spLocks noGrp="1"/>
          </p:cNvSpPr>
          <p:nvPr>
            <p:ph type="body" idx="102"/>
          </p:nvPr>
        </p:nvSpPr>
        <p:spPr/>
        <p:txBody>
          <a:bodyPr/>
          <a:lstStyle/>
          <a:p>
            <a:r>
              <a:t>jihoyeo@gachon.ac.kr · 오피스 아워 수 17:00–20:00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2026-08-31T14:39:01Z</dcterms:created>
  <dcterms:modified xsi:type="dcterms:W3CDTF">2026-08-31T14:39:01Z</dcterms:modified>
</cp:coreProperties>
</file>